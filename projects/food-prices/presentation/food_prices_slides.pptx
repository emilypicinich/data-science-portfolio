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notesMasterIdLst>
    <p:notesMasterId r:id="rId22"/>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8800"/>
    <p:restoredTop sz="68284"/>
  </p:normalViewPr>
  <p:slideViewPr>
    <p:cSldViewPr snapToGrid="0">
      <p:cViewPr>
        <p:scale>
          <a:sx n="58" d="100"/>
          <a:sy n="58" d="100"/>
        </p:scale>
        <p:origin x="256" y="70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A9196EA-0361-6F46-B6CB-BBB097E4C165}" type="datetimeFigureOut">
              <a:rPr lang="en-US" smtClean="0"/>
              <a:t>11/18/25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16AA85A-57B4-244B-9467-9D3ACFE8B82C}" type="slidenum">
              <a:rPr lang="en-US" smtClean="0"/>
              <a:t>‹#›</a:t>
            </a:fld>
            <a:endParaRPr lang="en-US"/>
          </a:p>
        </p:txBody>
      </p:sp>
    </p:spTree>
    <p:extLst>
      <p:ext uri="{BB962C8B-B14F-4D97-AF65-F5344CB8AC3E}">
        <p14:creationId xmlns:p14="http://schemas.microsoft.com/office/powerpoint/2010/main" val="115041649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u="none" strike="noStrike" kern="1200" dirty="0">
                <a:solidFill>
                  <a:schemeClr val="tx1"/>
                </a:solidFill>
                <a:effectLst/>
                <a:latin typeface="+mn-lt"/>
                <a:ea typeface="+mn-ea"/>
                <a:cs typeface="+mn-cs"/>
              </a:rPr>
              <a:t>Hello everyone, and thank you for joining me today. My name is Emily Picinich, and this presentation summarizes my data science project analyzing food prices across Pakistan. I’ll walk through the business problem, the methods, insights, and the clustering techniques used to uncover patterns in city-level price behavior.</a:t>
            </a:r>
            <a:endParaRPr lang="en-US" dirty="0"/>
          </a:p>
        </p:txBody>
      </p:sp>
      <p:sp>
        <p:nvSpPr>
          <p:cNvPr id="4" name="Slide Number Placeholder 3"/>
          <p:cNvSpPr>
            <a:spLocks noGrp="1"/>
          </p:cNvSpPr>
          <p:nvPr>
            <p:ph type="sldNum" sz="quarter" idx="5"/>
          </p:nvPr>
        </p:nvSpPr>
        <p:spPr/>
        <p:txBody>
          <a:bodyPr/>
          <a:lstStyle/>
          <a:p>
            <a:fld id="{016AA85A-57B4-244B-9467-9D3ACFE8B82C}" type="slidenum">
              <a:rPr lang="en-US" smtClean="0"/>
              <a:t>1</a:t>
            </a:fld>
            <a:endParaRPr lang="en-US"/>
          </a:p>
        </p:txBody>
      </p:sp>
    </p:spTree>
    <p:extLst>
      <p:ext uri="{BB962C8B-B14F-4D97-AF65-F5344CB8AC3E}">
        <p14:creationId xmlns:p14="http://schemas.microsoft.com/office/powerpoint/2010/main" val="220353587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u="none" strike="noStrike" kern="1200" dirty="0">
                <a:solidFill>
                  <a:schemeClr val="tx1"/>
                </a:solidFill>
                <a:effectLst/>
                <a:latin typeface="+mn-lt"/>
                <a:ea typeface="+mn-ea"/>
                <a:cs typeface="+mn-cs"/>
              </a:rPr>
              <a:t>The main issue we’re addressing is the lack of consolidated insight into how food prices differ across cities in Pakistan. Price volatility impacts affordability, planning, and policy decisions. By analyzing item-, category-, and city-level price data, my goal was to uncover meaningful patterns, identify the costliest products, and segment cities based on their price profiles. This helps forecast trends, pinpoint problem areas, and support decision-making.</a:t>
            </a:r>
            <a:endParaRPr lang="en-US" dirty="0"/>
          </a:p>
        </p:txBody>
      </p:sp>
      <p:sp>
        <p:nvSpPr>
          <p:cNvPr id="4" name="Slide Number Placeholder 3"/>
          <p:cNvSpPr>
            <a:spLocks noGrp="1"/>
          </p:cNvSpPr>
          <p:nvPr>
            <p:ph type="sldNum" sz="quarter" idx="5"/>
          </p:nvPr>
        </p:nvSpPr>
        <p:spPr/>
        <p:txBody>
          <a:bodyPr/>
          <a:lstStyle/>
          <a:p>
            <a:fld id="{016AA85A-57B4-244B-9467-9D3ACFE8B82C}" type="slidenum">
              <a:rPr lang="en-US" smtClean="0"/>
              <a:t>2</a:t>
            </a:fld>
            <a:endParaRPr lang="en-US"/>
          </a:p>
        </p:txBody>
      </p:sp>
    </p:spTree>
    <p:extLst>
      <p:ext uri="{BB962C8B-B14F-4D97-AF65-F5344CB8AC3E}">
        <p14:creationId xmlns:p14="http://schemas.microsoft.com/office/powerpoint/2010/main" val="356495434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u="none" strike="noStrike" kern="1200" dirty="0">
                <a:solidFill>
                  <a:schemeClr val="tx1"/>
                </a:solidFill>
                <a:effectLst/>
                <a:latin typeface="+mn-lt"/>
                <a:ea typeface="+mn-ea"/>
                <a:cs typeface="+mn-cs"/>
              </a:rPr>
              <a:t>Food prices in Pakistan are shaped by transportation distance, local production, and market competition. Larger cities often face higher markups, while rural-proximate markets may benefit from lower distribution costs. Historically, meat, oil, and beverages have been the biggest cost drivers. This context is important because it influenced how I structured the analysis and interpreted the results.</a:t>
            </a:r>
            <a:endParaRPr lang="en-US" dirty="0"/>
          </a:p>
        </p:txBody>
      </p:sp>
      <p:sp>
        <p:nvSpPr>
          <p:cNvPr id="4" name="Slide Number Placeholder 3"/>
          <p:cNvSpPr>
            <a:spLocks noGrp="1"/>
          </p:cNvSpPr>
          <p:nvPr>
            <p:ph type="sldNum" sz="quarter" idx="5"/>
          </p:nvPr>
        </p:nvSpPr>
        <p:spPr/>
        <p:txBody>
          <a:bodyPr/>
          <a:lstStyle/>
          <a:p>
            <a:fld id="{016AA85A-57B4-244B-9467-9D3ACFE8B82C}" type="slidenum">
              <a:rPr lang="en-US" smtClean="0"/>
              <a:t>3</a:t>
            </a:fld>
            <a:endParaRPr lang="en-US"/>
          </a:p>
        </p:txBody>
      </p:sp>
    </p:spTree>
    <p:extLst>
      <p:ext uri="{BB962C8B-B14F-4D97-AF65-F5344CB8AC3E}">
        <p14:creationId xmlns:p14="http://schemas.microsoft.com/office/powerpoint/2010/main" val="127643093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u="none" strike="noStrike" kern="1200" dirty="0">
                <a:solidFill>
                  <a:schemeClr val="tx1"/>
                </a:solidFill>
                <a:effectLst/>
                <a:latin typeface="+mn-lt"/>
                <a:ea typeface="+mn-ea"/>
                <a:cs typeface="+mn-cs"/>
              </a:rPr>
              <a:t>The dataset includes 1,100 observations from ten cities. It captures over thirty food items across nine major categories, as well as monthly variations and source information. The target variable for modeling and clustering is the price per kilogram.</a:t>
            </a:r>
            <a:endParaRPr lang="en-US" dirty="0"/>
          </a:p>
        </p:txBody>
      </p:sp>
      <p:sp>
        <p:nvSpPr>
          <p:cNvPr id="4" name="Slide Number Placeholder 3"/>
          <p:cNvSpPr>
            <a:spLocks noGrp="1"/>
          </p:cNvSpPr>
          <p:nvPr>
            <p:ph type="sldNum" sz="quarter" idx="5"/>
          </p:nvPr>
        </p:nvSpPr>
        <p:spPr/>
        <p:txBody>
          <a:bodyPr/>
          <a:lstStyle/>
          <a:p>
            <a:fld id="{016AA85A-57B4-244B-9467-9D3ACFE8B82C}" type="slidenum">
              <a:rPr lang="en-US" smtClean="0"/>
              <a:t>4</a:t>
            </a:fld>
            <a:endParaRPr lang="en-US"/>
          </a:p>
        </p:txBody>
      </p:sp>
    </p:spTree>
    <p:extLst>
      <p:ext uri="{BB962C8B-B14F-4D97-AF65-F5344CB8AC3E}">
        <p14:creationId xmlns:p14="http://schemas.microsoft.com/office/powerpoint/2010/main" val="353529227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u="none" strike="noStrike" kern="1200" dirty="0">
                <a:solidFill>
                  <a:schemeClr val="tx1"/>
                </a:solidFill>
                <a:effectLst/>
                <a:latin typeface="+mn-lt"/>
                <a:ea typeface="+mn-ea"/>
                <a:cs typeface="+mn-cs"/>
              </a:rPr>
              <a:t>I began by cleaning and validating the data. I encoded categorical variables for modeling and checked for outliers. For some analyses, such as clustering and predictive modeling, I also scaled the features to ensure comparability.</a:t>
            </a:r>
            <a:endParaRPr lang="en-US" dirty="0"/>
          </a:p>
        </p:txBody>
      </p:sp>
      <p:sp>
        <p:nvSpPr>
          <p:cNvPr id="4" name="Slide Number Placeholder 3"/>
          <p:cNvSpPr>
            <a:spLocks noGrp="1"/>
          </p:cNvSpPr>
          <p:nvPr>
            <p:ph type="sldNum" sz="quarter" idx="5"/>
          </p:nvPr>
        </p:nvSpPr>
        <p:spPr/>
        <p:txBody>
          <a:bodyPr/>
          <a:lstStyle/>
          <a:p>
            <a:fld id="{016AA85A-57B4-244B-9467-9D3ACFE8B82C}" type="slidenum">
              <a:rPr lang="en-US" smtClean="0"/>
              <a:t>5</a:t>
            </a:fld>
            <a:endParaRPr lang="en-US"/>
          </a:p>
        </p:txBody>
      </p:sp>
    </p:spTree>
    <p:extLst>
      <p:ext uri="{BB962C8B-B14F-4D97-AF65-F5344CB8AC3E}">
        <p14:creationId xmlns:p14="http://schemas.microsoft.com/office/powerpoint/2010/main" val="82281813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u="none" strike="noStrike" kern="1200" dirty="0">
                <a:solidFill>
                  <a:schemeClr val="tx1"/>
                </a:solidFill>
                <a:effectLst/>
                <a:latin typeface="+mn-lt"/>
                <a:ea typeface="+mn-ea"/>
                <a:cs typeface="+mn-cs"/>
              </a:rPr>
              <a:t>This histogram shows a bimodal distribution of prices. Most items fall between 50 and 300 PKR per kilogram, which includes grains, fruits, vegetables, and pulses. A second cluster of prices, between about 700 and 1,300, represents premium items such as mutton, ghee, tea, and high-quality fish. This separation is what later informs clustering.</a:t>
            </a:r>
            <a:endParaRPr lang="en-US" dirty="0"/>
          </a:p>
        </p:txBody>
      </p:sp>
      <p:sp>
        <p:nvSpPr>
          <p:cNvPr id="4" name="Slide Number Placeholder 3"/>
          <p:cNvSpPr>
            <a:spLocks noGrp="1"/>
          </p:cNvSpPr>
          <p:nvPr>
            <p:ph type="sldNum" sz="quarter" idx="5"/>
          </p:nvPr>
        </p:nvSpPr>
        <p:spPr/>
        <p:txBody>
          <a:bodyPr/>
          <a:lstStyle/>
          <a:p>
            <a:fld id="{016AA85A-57B4-244B-9467-9D3ACFE8B82C}" type="slidenum">
              <a:rPr lang="en-US" smtClean="0"/>
              <a:t>6</a:t>
            </a:fld>
            <a:endParaRPr lang="en-US"/>
          </a:p>
        </p:txBody>
      </p:sp>
    </p:spTree>
    <p:extLst>
      <p:ext uri="{BB962C8B-B14F-4D97-AF65-F5344CB8AC3E}">
        <p14:creationId xmlns:p14="http://schemas.microsoft.com/office/powerpoint/2010/main" val="370288751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171A5C-2901-A2B3-1E72-A03B109B818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53BD4E0-B306-743C-9584-CDBCAF3148C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3E8D9BD-37E0-65F3-BA65-F158DB802D0B}"/>
              </a:ext>
            </a:extLst>
          </p:cNvPr>
          <p:cNvSpPr>
            <a:spLocks noGrp="1"/>
          </p:cNvSpPr>
          <p:nvPr>
            <p:ph type="body" idx="1"/>
          </p:nvPr>
        </p:nvSpPr>
        <p:spPr/>
        <p:txBody>
          <a:bodyPr/>
          <a:lstStyle/>
          <a:p>
            <a:r>
              <a:rPr lang="en-US" sz="1200" b="0" i="0" u="none" strike="noStrike" kern="1200" dirty="0">
                <a:solidFill>
                  <a:schemeClr val="tx1"/>
                </a:solidFill>
                <a:effectLst/>
                <a:latin typeface="+mn-lt"/>
                <a:ea typeface="+mn-ea"/>
                <a:cs typeface="+mn-cs"/>
              </a:rPr>
              <a:t>Here we see that Karachi and Hyderabad have the highest average food prices, followed by Rawalpindi and Quetta. Cities like Peshawar and Multan remain more affordable. These inter-city differences suggest unique market dynamics and justify clustering cities based on price patterns.</a:t>
            </a:r>
            <a:endParaRPr lang="en-US" dirty="0"/>
          </a:p>
        </p:txBody>
      </p:sp>
      <p:sp>
        <p:nvSpPr>
          <p:cNvPr id="4" name="Slide Number Placeholder 3">
            <a:extLst>
              <a:ext uri="{FF2B5EF4-FFF2-40B4-BE49-F238E27FC236}">
                <a16:creationId xmlns:a16="http://schemas.microsoft.com/office/drawing/2014/main" id="{0BD09CEA-3A13-1586-F98B-010C1126EC88}"/>
              </a:ext>
            </a:extLst>
          </p:cNvPr>
          <p:cNvSpPr>
            <a:spLocks noGrp="1"/>
          </p:cNvSpPr>
          <p:nvPr>
            <p:ph type="sldNum" sz="quarter" idx="5"/>
          </p:nvPr>
        </p:nvSpPr>
        <p:spPr/>
        <p:txBody>
          <a:bodyPr/>
          <a:lstStyle/>
          <a:p>
            <a:fld id="{016AA85A-57B4-244B-9467-9D3ACFE8B82C}" type="slidenum">
              <a:rPr lang="en-US" smtClean="0"/>
              <a:t>7</a:t>
            </a:fld>
            <a:endParaRPr lang="en-US"/>
          </a:p>
        </p:txBody>
      </p:sp>
    </p:spTree>
    <p:extLst>
      <p:ext uri="{BB962C8B-B14F-4D97-AF65-F5344CB8AC3E}">
        <p14:creationId xmlns:p14="http://schemas.microsoft.com/office/powerpoint/2010/main" val="409072936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B24C76-9586-0CEF-D6BA-AC7A7E89CDA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DA5002E-A45E-4E1B-C84B-CE0EBC7B6A1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16DEE8B-A801-97F1-3FF4-AFBED3D9A9B8}"/>
              </a:ext>
            </a:extLst>
          </p:cNvPr>
          <p:cNvSpPr>
            <a:spLocks noGrp="1"/>
          </p:cNvSpPr>
          <p:nvPr>
            <p:ph type="body" idx="1"/>
          </p:nvPr>
        </p:nvSpPr>
        <p:spPr/>
        <p:txBody>
          <a:bodyPr/>
          <a:lstStyle/>
          <a:p>
            <a:r>
              <a:rPr lang="en-US" sz="1200" b="0" i="0" u="none" strike="noStrike" kern="1200" dirty="0">
                <a:solidFill>
                  <a:schemeClr val="tx1"/>
                </a:solidFill>
                <a:effectLst/>
                <a:latin typeface="+mn-lt"/>
                <a:ea typeface="+mn-ea"/>
                <a:cs typeface="+mn-cs"/>
              </a:rPr>
              <a:t>Category-wise, beverages, meat, and oil are by far the most expensive categories overall. On the opposite end, vegetables, grains, and fruit consistently remain affordable. This highlights the unequal burden placed on households depending on dietary needs.</a:t>
            </a:r>
            <a:endParaRPr lang="en-US" dirty="0"/>
          </a:p>
        </p:txBody>
      </p:sp>
      <p:sp>
        <p:nvSpPr>
          <p:cNvPr id="4" name="Slide Number Placeholder 3">
            <a:extLst>
              <a:ext uri="{FF2B5EF4-FFF2-40B4-BE49-F238E27FC236}">
                <a16:creationId xmlns:a16="http://schemas.microsoft.com/office/drawing/2014/main" id="{53E847C9-D0EB-3A3F-7BE1-CADFE71A5067}"/>
              </a:ext>
            </a:extLst>
          </p:cNvPr>
          <p:cNvSpPr>
            <a:spLocks noGrp="1"/>
          </p:cNvSpPr>
          <p:nvPr>
            <p:ph type="sldNum" sz="quarter" idx="5"/>
          </p:nvPr>
        </p:nvSpPr>
        <p:spPr/>
        <p:txBody>
          <a:bodyPr/>
          <a:lstStyle/>
          <a:p>
            <a:fld id="{016AA85A-57B4-244B-9467-9D3ACFE8B82C}" type="slidenum">
              <a:rPr lang="en-US" smtClean="0"/>
              <a:t>8</a:t>
            </a:fld>
            <a:endParaRPr lang="en-US"/>
          </a:p>
        </p:txBody>
      </p:sp>
    </p:spTree>
    <p:extLst>
      <p:ext uri="{BB962C8B-B14F-4D97-AF65-F5344CB8AC3E}">
        <p14:creationId xmlns:p14="http://schemas.microsoft.com/office/powerpoint/2010/main" val="118553255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00D124-F069-6918-1371-B19A092BC61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0A21E29-E704-1245-FAE6-62A72FE36D3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700D8A1-E7B0-5DBE-C2E0-F2B9EF4E1CE2}"/>
              </a:ext>
            </a:extLst>
          </p:cNvPr>
          <p:cNvSpPr>
            <a:spLocks noGrp="1"/>
          </p:cNvSpPr>
          <p:nvPr>
            <p:ph type="body" idx="1"/>
          </p:nvPr>
        </p:nvSpPr>
        <p:spPr/>
        <p:txBody>
          <a:bodyPr/>
          <a:lstStyle/>
          <a:p>
            <a:r>
              <a:rPr lang="en-US" sz="1200" b="0" i="0" u="none" strike="noStrike" kern="1200" dirty="0">
                <a:solidFill>
                  <a:schemeClr val="tx1"/>
                </a:solidFill>
                <a:effectLst/>
                <a:latin typeface="+mn-lt"/>
                <a:ea typeface="+mn-ea"/>
                <a:cs typeface="+mn-cs"/>
              </a:rPr>
              <a:t>When examining individual items, mutton, pomfret fish, ghee, and tea appear as the highest-cost foods. Meanwhile, staples like salt, potatoes, onions, and spinach are at the low end. These findings align with expectations around perishability, protein content, and import dependencies.</a:t>
            </a:r>
            <a:endParaRPr lang="en-US" dirty="0"/>
          </a:p>
        </p:txBody>
      </p:sp>
      <p:sp>
        <p:nvSpPr>
          <p:cNvPr id="4" name="Slide Number Placeholder 3">
            <a:extLst>
              <a:ext uri="{FF2B5EF4-FFF2-40B4-BE49-F238E27FC236}">
                <a16:creationId xmlns:a16="http://schemas.microsoft.com/office/drawing/2014/main" id="{F2AB2DFF-6B90-F852-32AF-16CC3B609AAD}"/>
              </a:ext>
            </a:extLst>
          </p:cNvPr>
          <p:cNvSpPr>
            <a:spLocks noGrp="1"/>
          </p:cNvSpPr>
          <p:nvPr>
            <p:ph type="sldNum" sz="quarter" idx="5"/>
          </p:nvPr>
        </p:nvSpPr>
        <p:spPr/>
        <p:txBody>
          <a:bodyPr/>
          <a:lstStyle/>
          <a:p>
            <a:fld id="{016AA85A-57B4-244B-9467-9D3ACFE8B82C}" type="slidenum">
              <a:rPr lang="en-US" smtClean="0"/>
              <a:t>9</a:t>
            </a:fld>
            <a:endParaRPr lang="en-US"/>
          </a:p>
        </p:txBody>
      </p:sp>
    </p:spTree>
    <p:extLst>
      <p:ext uri="{BB962C8B-B14F-4D97-AF65-F5344CB8AC3E}">
        <p14:creationId xmlns:p14="http://schemas.microsoft.com/office/powerpoint/2010/main" val="141344829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B26F41-986E-73EC-82C4-0C39BCC0721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33C4E2C-1BB5-174A-E6DE-0EF1AFDB17F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5199FB5-B4E0-01FA-F314-78248B2C277C}"/>
              </a:ext>
            </a:extLst>
          </p:cNvPr>
          <p:cNvSpPr>
            <a:spLocks noGrp="1"/>
          </p:cNvSpPr>
          <p:nvPr>
            <p:ph type="body" idx="1"/>
          </p:nvPr>
        </p:nvSpPr>
        <p:spPr/>
        <p:txBody>
          <a:bodyPr/>
          <a:lstStyle/>
          <a:p>
            <a:r>
              <a:rPr lang="en-US" sz="1200" b="0" i="0" u="none" strike="noStrike" kern="1200" dirty="0">
                <a:solidFill>
                  <a:schemeClr val="tx1"/>
                </a:solidFill>
                <a:effectLst/>
                <a:latin typeface="+mn-lt"/>
                <a:ea typeface="+mn-ea"/>
                <a:cs typeface="+mn-cs"/>
              </a:rPr>
              <a:t>The boxplot highlights variability within each category. Meat and oil show the widest price range and contain the highest outliers, indicating greater market instability. In contrast, grains and vegetables are stable with tight price distributions.</a:t>
            </a:r>
            <a:endParaRPr lang="en-US" dirty="0"/>
          </a:p>
        </p:txBody>
      </p:sp>
      <p:sp>
        <p:nvSpPr>
          <p:cNvPr id="4" name="Slide Number Placeholder 3">
            <a:extLst>
              <a:ext uri="{FF2B5EF4-FFF2-40B4-BE49-F238E27FC236}">
                <a16:creationId xmlns:a16="http://schemas.microsoft.com/office/drawing/2014/main" id="{84E6DBD6-F065-EAD2-2427-C963C63B257B}"/>
              </a:ext>
            </a:extLst>
          </p:cNvPr>
          <p:cNvSpPr>
            <a:spLocks noGrp="1"/>
          </p:cNvSpPr>
          <p:nvPr>
            <p:ph type="sldNum" sz="quarter" idx="5"/>
          </p:nvPr>
        </p:nvSpPr>
        <p:spPr/>
        <p:txBody>
          <a:bodyPr/>
          <a:lstStyle/>
          <a:p>
            <a:fld id="{016AA85A-57B4-244B-9467-9D3ACFE8B82C}" type="slidenum">
              <a:rPr lang="en-US" smtClean="0"/>
              <a:t>10</a:t>
            </a:fld>
            <a:endParaRPr lang="en-US"/>
          </a:p>
        </p:txBody>
      </p:sp>
    </p:spTree>
    <p:extLst>
      <p:ext uri="{BB962C8B-B14F-4D97-AF65-F5344CB8AC3E}">
        <p14:creationId xmlns:p14="http://schemas.microsoft.com/office/powerpoint/2010/main" val="170102383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u="none" strike="noStrike" kern="1200" dirty="0">
                <a:solidFill>
                  <a:schemeClr val="tx1"/>
                </a:solidFill>
                <a:effectLst/>
                <a:latin typeface="+mn-lt"/>
                <a:ea typeface="+mn-ea"/>
                <a:cs typeface="+mn-cs"/>
              </a:rPr>
              <a:t>I used Spearman correlation for categorical encodings. Most fields showed extremely weak relationships with price except for category and item, which confirms that price differences are strongly product-driven rather than heavily influenced by city or time of year.</a:t>
            </a:r>
            <a:endParaRPr lang="en-US" dirty="0"/>
          </a:p>
        </p:txBody>
      </p:sp>
      <p:sp>
        <p:nvSpPr>
          <p:cNvPr id="4" name="Slide Number Placeholder 3"/>
          <p:cNvSpPr>
            <a:spLocks noGrp="1"/>
          </p:cNvSpPr>
          <p:nvPr>
            <p:ph type="sldNum" sz="quarter" idx="5"/>
          </p:nvPr>
        </p:nvSpPr>
        <p:spPr/>
        <p:txBody>
          <a:bodyPr/>
          <a:lstStyle/>
          <a:p>
            <a:fld id="{016AA85A-57B4-244B-9467-9D3ACFE8B82C}" type="slidenum">
              <a:rPr lang="en-US" smtClean="0"/>
              <a:t>11</a:t>
            </a:fld>
            <a:endParaRPr lang="en-US"/>
          </a:p>
        </p:txBody>
      </p:sp>
    </p:spTree>
    <p:extLst>
      <p:ext uri="{BB962C8B-B14F-4D97-AF65-F5344CB8AC3E}">
        <p14:creationId xmlns:p14="http://schemas.microsoft.com/office/powerpoint/2010/main" val="407002626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u="none" strike="noStrike" kern="1200" dirty="0">
                <a:solidFill>
                  <a:schemeClr val="tx1"/>
                </a:solidFill>
                <a:effectLst/>
                <a:latin typeface="+mn-lt"/>
                <a:ea typeface="+mn-ea"/>
                <a:cs typeface="+mn-cs"/>
              </a:rPr>
              <a:t>I tested two models to predict price using encoded features. Linear regression performed well, but the random forest model improved accuracy with an RMSE of 16 and an R² of 0.998. Feature importance reveals that items in the meat, dairy, and condiment categories are the strongest predictors of price level.</a:t>
            </a:r>
            <a:endParaRPr lang="en-US" dirty="0"/>
          </a:p>
        </p:txBody>
      </p:sp>
      <p:sp>
        <p:nvSpPr>
          <p:cNvPr id="4" name="Slide Number Placeholder 3"/>
          <p:cNvSpPr>
            <a:spLocks noGrp="1"/>
          </p:cNvSpPr>
          <p:nvPr>
            <p:ph type="sldNum" sz="quarter" idx="5"/>
          </p:nvPr>
        </p:nvSpPr>
        <p:spPr/>
        <p:txBody>
          <a:bodyPr/>
          <a:lstStyle/>
          <a:p>
            <a:fld id="{016AA85A-57B4-244B-9467-9D3ACFE8B82C}" type="slidenum">
              <a:rPr lang="en-US" smtClean="0"/>
              <a:t>12</a:t>
            </a:fld>
            <a:endParaRPr lang="en-US"/>
          </a:p>
        </p:txBody>
      </p:sp>
    </p:spTree>
    <p:extLst>
      <p:ext uri="{BB962C8B-B14F-4D97-AF65-F5344CB8AC3E}">
        <p14:creationId xmlns:p14="http://schemas.microsoft.com/office/powerpoint/2010/main" val="78563615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u="none" strike="noStrike" kern="1200" dirty="0">
                <a:solidFill>
                  <a:schemeClr val="tx1"/>
                </a:solidFill>
                <a:effectLst/>
                <a:latin typeface="+mn-lt"/>
                <a:ea typeface="+mn-ea"/>
                <a:cs typeface="+mn-cs"/>
              </a:rPr>
              <a:t>Using K-means clustering and PCA visualization, I found four distinct city groups. Cluster 0 includes Quetta, Hyderabad, and Sialkot—these cities have the lowest prices. Cluster 1 includes Karachi and Multan with moderately high prices. Cluster 2 includes cities like Lahore and Islamabad with mixed cost profiles. Cluster 3 contains only Peshawar, which stands alone due to unusually high prices for multiple items.</a:t>
            </a:r>
            <a:endParaRPr lang="en-US" dirty="0"/>
          </a:p>
        </p:txBody>
      </p:sp>
      <p:sp>
        <p:nvSpPr>
          <p:cNvPr id="4" name="Slide Number Placeholder 3"/>
          <p:cNvSpPr>
            <a:spLocks noGrp="1"/>
          </p:cNvSpPr>
          <p:nvPr>
            <p:ph type="sldNum" sz="quarter" idx="5"/>
          </p:nvPr>
        </p:nvSpPr>
        <p:spPr/>
        <p:txBody>
          <a:bodyPr/>
          <a:lstStyle/>
          <a:p>
            <a:fld id="{016AA85A-57B4-244B-9467-9D3ACFE8B82C}" type="slidenum">
              <a:rPr lang="en-US" smtClean="0"/>
              <a:t>13</a:t>
            </a:fld>
            <a:endParaRPr lang="en-US"/>
          </a:p>
        </p:txBody>
      </p:sp>
    </p:spTree>
    <p:extLst>
      <p:ext uri="{BB962C8B-B14F-4D97-AF65-F5344CB8AC3E}">
        <p14:creationId xmlns:p14="http://schemas.microsoft.com/office/powerpoint/2010/main" val="328170309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u="none" strike="noStrike" kern="1200" dirty="0">
                <a:solidFill>
                  <a:schemeClr val="tx1"/>
                </a:solidFill>
                <a:effectLst/>
                <a:latin typeface="+mn-lt"/>
                <a:ea typeface="+mn-ea"/>
                <a:cs typeface="+mn-cs"/>
              </a:rPr>
              <a:t>This heatmap visualizes price profiles across all cities and items. You can clearly see patterns that drove the clustering. Some cities consistently have darker bands, indicating higher prices across several categories.</a:t>
            </a:r>
            <a:endParaRPr lang="en-US" dirty="0"/>
          </a:p>
        </p:txBody>
      </p:sp>
      <p:sp>
        <p:nvSpPr>
          <p:cNvPr id="4" name="Slide Number Placeholder 3"/>
          <p:cNvSpPr>
            <a:spLocks noGrp="1"/>
          </p:cNvSpPr>
          <p:nvPr>
            <p:ph type="sldNum" sz="quarter" idx="5"/>
          </p:nvPr>
        </p:nvSpPr>
        <p:spPr/>
        <p:txBody>
          <a:bodyPr/>
          <a:lstStyle/>
          <a:p>
            <a:fld id="{016AA85A-57B4-244B-9467-9D3ACFE8B82C}" type="slidenum">
              <a:rPr lang="en-US" smtClean="0"/>
              <a:t>14</a:t>
            </a:fld>
            <a:endParaRPr lang="en-US"/>
          </a:p>
        </p:txBody>
      </p:sp>
    </p:spTree>
    <p:extLst>
      <p:ext uri="{BB962C8B-B14F-4D97-AF65-F5344CB8AC3E}">
        <p14:creationId xmlns:p14="http://schemas.microsoft.com/office/powerpoint/2010/main" val="309673953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u="none" strike="noStrike" kern="1200" dirty="0">
                <a:solidFill>
                  <a:schemeClr val="tx1"/>
                </a:solidFill>
                <a:effectLst/>
                <a:latin typeface="+mn-lt"/>
                <a:ea typeface="+mn-ea"/>
                <a:cs typeface="+mn-cs"/>
              </a:rPr>
              <a:t>This radar chart shows how each cluster compares across categories. For example, Cluster 3 spikes sharply on beverages, oil, and vegetables. Cluster 0 tends to have the lowest normalized prices across categories. These profiles help explain the segmentation.</a:t>
            </a:r>
            <a:endParaRPr lang="en-US" dirty="0"/>
          </a:p>
        </p:txBody>
      </p:sp>
      <p:sp>
        <p:nvSpPr>
          <p:cNvPr id="4" name="Slide Number Placeholder 3"/>
          <p:cNvSpPr>
            <a:spLocks noGrp="1"/>
          </p:cNvSpPr>
          <p:nvPr>
            <p:ph type="sldNum" sz="quarter" idx="5"/>
          </p:nvPr>
        </p:nvSpPr>
        <p:spPr/>
        <p:txBody>
          <a:bodyPr/>
          <a:lstStyle/>
          <a:p>
            <a:fld id="{016AA85A-57B4-244B-9467-9D3ACFE8B82C}" type="slidenum">
              <a:rPr lang="en-US" smtClean="0"/>
              <a:t>15</a:t>
            </a:fld>
            <a:endParaRPr lang="en-US"/>
          </a:p>
        </p:txBody>
      </p:sp>
    </p:spTree>
    <p:extLst>
      <p:ext uri="{BB962C8B-B14F-4D97-AF65-F5344CB8AC3E}">
        <p14:creationId xmlns:p14="http://schemas.microsoft.com/office/powerpoint/2010/main" val="63036349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u="none" strike="noStrike" kern="1200" dirty="0">
                <a:solidFill>
                  <a:schemeClr val="tx1"/>
                </a:solidFill>
                <a:effectLst/>
                <a:latin typeface="+mn-lt"/>
                <a:ea typeface="+mn-ea"/>
                <a:cs typeface="+mn-cs"/>
              </a:rPr>
              <a:t>In summary, food prices vary widely across both categories and cities. Modeling confirmed that item type is the strongest predictor of price, while clustering revealed four clear market groups that could support targeted interventions, supply chain planning, and market regulation.</a:t>
            </a:r>
            <a:endParaRPr lang="en-US" dirty="0"/>
          </a:p>
        </p:txBody>
      </p:sp>
      <p:sp>
        <p:nvSpPr>
          <p:cNvPr id="4" name="Slide Number Placeholder 3"/>
          <p:cNvSpPr>
            <a:spLocks noGrp="1"/>
          </p:cNvSpPr>
          <p:nvPr>
            <p:ph type="sldNum" sz="quarter" idx="5"/>
          </p:nvPr>
        </p:nvSpPr>
        <p:spPr/>
        <p:txBody>
          <a:bodyPr/>
          <a:lstStyle/>
          <a:p>
            <a:fld id="{016AA85A-57B4-244B-9467-9D3ACFE8B82C}" type="slidenum">
              <a:rPr lang="en-US" smtClean="0"/>
              <a:t>16</a:t>
            </a:fld>
            <a:endParaRPr lang="en-US"/>
          </a:p>
        </p:txBody>
      </p:sp>
    </p:spTree>
    <p:extLst>
      <p:ext uri="{BB962C8B-B14F-4D97-AF65-F5344CB8AC3E}">
        <p14:creationId xmlns:p14="http://schemas.microsoft.com/office/powerpoint/2010/main" val="357083075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9D715C-5D51-C70B-F767-EE1518E0E30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36A3367-DE53-CBF7-703B-8529F6CE566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7FA9F69-6C46-CC77-FFBB-6D642C67E583}"/>
              </a:ext>
            </a:extLst>
          </p:cNvPr>
          <p:cNvSpPr>
            <a:spLocks noGrp="1"/>
          </p:cNvSpPr>
          <p:nvPr>
            <p:ph type="body" idx="1"/>
          </p:nvPr>
        </p:nvSpPr>
        <p:spPr/>
        <p:txBody>
          <a:bodyPr/>
          <a:lstStyle/>
          <a:p>
            <a:r>
              <a:rPr lang="en-US" sz="1200" b="0" i="0" u="none" strike="noStrike" kern="1200" dirty="0">
                <a:solidFill>
                  <a:schemeClr val="tx1"/>
                </a:solidFill>
                <a:effectLst/>
                <a:latin typeface="+mn-lt"/>
                <a:ea typeface="+mn-ea"/>
                <a:cs typeface="+mn-cs"/>
              </a:rPr>
              <a:t>I recommend using the city clusters to guide targeted market interventions. High-cost categories should be monitored closely for shortages or price manipulation. Increasing transparency could help reduce price inequality, and expanding the dataset could strengthen future models.</a:t>
            </a:r>
            <a:endParaRPr lang="en-US" dirty="0"/>
          </a:p>
        </p:txBody>
      </p:sp>
      <p:sp>
        <p:nvSpPr>
          <p:cNvPr id="4" name="Slide Number Placeholder 3">
            <a:extLst>
              <a:ext uri="{FF2B5EF4-FFF2-40B4-BE49-F238E27FC236}">
                <a16:creationId xmlns:a16="http://schemas.microsoft.com/office/drawing/2014/main" id="{F1BB225E-A189-5169-C8A2-25947DBA1433}"/>
              </a:ext>
            </a:extLst>
          </p:cNvPr>
          <p:cNvSpPr>
            <a:spLocks noGrp="1"/>
          </p:cNvSpPr>
          <p:nvPr>
            <p:ph type="sldNum" sz="quarter" idx="5"/>
          </p:nvPr>
        </p:nvSpPr>
        <p:spPr/>
        <p:txBody>
          <a:bodyPr/>
          <a:lstStyle/>
          <a:p>
            <a:fld id="{016AA85A-57B4-244B-9467-9D3ACFE8B82C}" type="slidenum">
              <a:rPr lang="en-US" smtClean="0"/>
              <a:t>17</a:t>
            </a:fld>
            <a:endParaRPr lang="en-US"/>
          </a:p>
        </p:txBody>
      </p:sp>
    </p:spTree>
    <p:extLst>
      <p:ext uri="{BB962C8B-B14F-4D97-AF65-F5344CB8AC3E}">
        <p14:creationId xmlns:p14="http://schemas.microsoft.com/office/powerpoint/2010/main" val="1366037172"/>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5499F7-0AC2-92D6-F7F2-297268F6E08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A2BEC9B-4A83-6A6B-CC00-6499390686C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7CC1186-6F49-F41D-0146-85F1141D16CC}"/>
              </a:ext>
            </a:extLst>
          </p:cNvPr>
          <p:cNvSpPr>
            <a:spLocks noGrp="1"/>
          </p:cNvSpPr>
          <p:nvPr>
            <p:ph type="body" idx="1"/>
          </p:nvPr>
        </p:nvSpPr>
        <p:spPr/>
        <p:txBody>
          <a:bodyPr/>
          <a:lstStyle/>
          <a:p>
            <a:r>
              <a:rPr lang="en-US" sz="1200" b="0" i="0" u="none" strike="noStrike" kern="1200" dirty="0">
                <a:solidFill>
                  <a:schemeClr val="tx1"/>
                </a:solidFill>
                <a:effectLst/>
                <a:latin typeface="+mn-lt"/>
                <a:ea typeface="+mn-ea"/>
                <a:cs typeface="+mn-cs"/>
              </a:rPr>
              <a:t>There are many opportunities to build on this work, including forecasting models, more robust clustering using multi-year data, and developing interactive dashboards to help support economic policy and food security initiatives.</a:t>
            </a:r>
            <a:endParaRPr lang="en-US" dirty="0"/>
          </a:p>
        </p:txBody>
      </p:sp>
      <p:sp>
        <p:nvSpPr>
          <p:cNvPr id="4" name="Slide Number Placeholder 3">
            <a:extLst>
              <a:ext uri="{FF2B5EF4-FFF2-40B4-BE49-F238E27FC236}">
                <a16:creationId xmlns:a16="http://schemas.microsoft.com/office/drawing/2014/main" id="{4691B075-27F6-0340-0E0C-27446C7BE0EA}"/>
              </a:ext>
            </a:extLst>
          </p:cNvPr>
          <p:cNvSpPr>
            <a:spLocks noGrp="1"/>
          </p:cNvSpPr>
          <p:nvPr>
            <p:ph type="sldNum" sz="quarter" idx="5"/>
          </p:nvPr>
        </p:nvSpPr>
        <p:spPr/>
        <p:txBody>
          <a:bodyPr/>
          <a:lstStyle/>
          <a:p>
            <a:fld id="{016AA85A-57B4-244B-9467-9D3ACFE8B82C}" type="slidenum">
              <a:rPr lang="en-US" smtClean="0"/>
              <a:t>18</a:t>
            </a:fld>
            <a:endParaRPr lang="en-US"/>
          </a:p>
        </p:txBody>
      </p:sp>
    </p:spTree>
    <p:extLst>
      <p:ext uri="{BB962C8B-B14F-4D97-AF65-F5344CB8AC3E}">
        <p14:creationId xmlns:p14="http://schemas.microsoft.com/office/powerpoint/2010/main" val="260098180"/>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278588-A2FC-F74C-E872-023E228E8FA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A57E59A-E007-976D-6DD5-8D3DE9C81CF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CC8C421-B475-5275-966D-60527960ECA1}"/>
              </a:ext>
            </a:extLst>
          </p:cNvPr>
          <p:cNvSpPr>
            <a:spLocks noGrp="1"/>
          </p:cNvSpPr>
          <p:nvPr>
            <p:ph type="body" idx="1"/>
          </p:nvPr>
        </p:nvSpPr>
        <p:spPr/>
        <p:txBody>
          <a:bodyPr/>
          <a:lstStyle/>
          <a:p>
            <a:r>
              <a:rPr lang="en-US" sz="1200" b="0" i="0" u="none" strike="noStrike" kern="1200" dirty="0">
                <a:solidFill>
                  <a:schemeClr val="tx1"/>
                </a:solidFill>
                <a:effectLst/>
                <a:latin typeface="+mn-lt"/>
                <a:ea typeface="+mn-ea"/>
                <a:cs typeface="+mn-cs"/>
              </a:rPr>
              <a:t>Ethically, it’s important that this analysis is used to improve equity rather than reinforce disparities. Clusters should guide supportive policies, not punitive measures. Transparency in every step of the modeling process is essential.</a:t>
            </a:r>
            <a:endParaRPr lang="en-US" dirty="0"/>
          </a:p>
        </p:txBody>
      </p:sp>
      <p:sp>
        <p:nvSpPr>
          <p:cNvPr id="4" name="Slide Number Placeholder 3">
            <a:extLst>
              <a:ext uri="{FF2B5EF4-FFF2-40B4-BE49-F238E27FC236}">
                <a16:creationId xmlns:a16="http://schemas.microsoft.com/office/drawing/2014/main" id="{2C6E949A-5616-DB26-0AAB-A8420C907CDF}"/>
              </a:ext>
            </a:extLst>
          </p:cNvPr>
          <p:cNvSpPr>
            <a:spLocks noGrp="1"/>
          </p:cNvSpPr>
          <p:nvPr>
            <p:ph type="sldNum" sz="quarter" idx="5"/>
          </p:nvPr>
        </p:nvSpPr>
        <p:spPr/>
        <p:txBody>
          <a:bodyPr/>
          <a:lstStyle/>
          <a:p>
            <a:fld id="{016AA85A-57B4-244B-9467-9D3ACFE8B82C}" type="slidenum">
              <a:rPr lang="en-US" smtClean="0"/>
              <a:t>19</a:t>
            </a:fld>
            <a:endParaRPr lang="en-US"/>
          </a:p>
        </p:txBody>
      </p:sp>
    </p:spTree>
    <p:extLst>
      <p:ext uri="{BB962C8B-B14F-4D97-AF65-F5344CB8AC3E}">
        <p14:creationId xmlns:p14="http://schemas.microsoft.com/office/powerpoint/2010/main" val="445732628"/>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8E75DD-704A-800B-CDF3-5B6946F101A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7C349C7-9637-D377-2BC3-4760D144D20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A188887-2DCE-B265-FF8E-FF116A5F7EC2}"/>
              </a:ext>
            </a:extLst>
          </p:cNvPr>
          <p:cNvSpPr>
            <a:spLocks noGrp="1"/>
          </p:cNvSpPr>
          <p:nvPr>
            <p:ph type="body" idx="1"/>
          </p:nvPr>
        </p:nvSpPr>
        <p:spPr/>
        <p:txBody>
          <a:bodyPr/>
          <a:lstStyle/>
          <a:p>
            <a:r>
              <a:rPr lang="en-US" sz="1200" b="0" i="0" u="none" strike="noStrike" kern="1200" dirty="0">
                <a:solidFill>
                  <a:schemeClr val="tx1"/>
                </a:solidFill>
                <a:effectLst/>
                <a:latin typeface="+mn-lt"/>
                <a:ea typeface="+mn-ea"/>
                <a:cs typeface="+mn-cs"/>
              </a:rPr>
              <a:t>Thank you for listening. That concludes my presentation. </a:t>
            </a:r>
            <a:r>
              <a:rPr lang="en-US" sz="1200" b="0" i="0" u="none" strike="noStrike" kern="1200">
                <a:solidFill>
                  <a:schemeClr val="tx1"/>
                </a:solidFill>
                <a:effectLst/>
                <a:latin typeface="+mn-lt"/>
                <a:ea typeface="+mn-ea"/>
                <a:cs typeface="+mn-cs"/>
              </a:rPr>
              <a:t>I’d be happy to answer any questions.</a:t>
            </a:r>
            <a:endParaRPr lang="en-US" dirty="0"/>
          </a:p>
        </p:txBody>
      </p:sp>
      <p:sp>
        <p:nvSpPr>
          <p:cNvPr id="4" name="Slide Number Placeholder 3">
            <a:extLst>
              <a:ext uri="{FF2B5EF4-FFF2-40B4-BE49-F238E27FC236}">
                <a16:creationId xmlns:a16="http://schemas.microsoft.com/office/drawing/2014/main" id="{D485CFB6-5932-D6E9-CB19-3DFA284E8CD4}"/>
              </a:ext>
            </a:extLst>
          </p:cNvPr>
          <p:cNvSpPr>
            <a:spLocks noGrp="1"/>
          </p:cNvSpPr>
          <p:nvPr>
            <p:ph type="sldNum" sz="quarter" idx="5"/>
          </p:nvPr>
        </p:nvSpPr>
        <p:spPr/>
        <p:txBody>
          <a:bodyPr/>
          <a:lstStyle/>
          <a:p>
            <a:fld id="{016AA85A-57B4-244B-9467-9D3ACFE8B82C}" type="slidenum">
              <a:rPr lang="en-US" smtClean="0"/>
              <a:t>20</a:t>
            </a:fld>
            <a:endParaRPr lang="en-US"/>
          </a:p>
        </p:txBody>
      </p:sp>
    </p:spTree>
    <p:extLst>
      <p:ext uri="{BB962C8B-B14F-4D97-AF65-F5344CB8AC3E}">
        <p14:creationId xmlns:p14="http://schemas.microsoft.com/office/powerpoint/2010/main" val="298717236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Rectangle 6"/>
          <p:cNvSpPr/>
          <p:nvPr/>
        </p:nvSpPr>
        <p:spPr>
          <a:xfrm>
            <a:off x="446534" y="3085765"/>
            <a:ext cx="11262866" cy="33048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 name="Title 1"/>
          <p:cNvSpPr>
            <a:spLocks noGrp="1"/>
          </p:cNvSpPr>
          <p:nvPr>
            <p:ph type="ctrTitle"/>
          </p:nvPr>
        </p:nvSpPr>
        <p:spPr>
          <a:xfrm>
            <a:off x="581191" y="1020431"/>
            <a:ext cx="10993549" cy="1475013"/>
          </a:xfrm>
          <a:effectLst/>
        </p:spPr>
        <p:txBody>
          <a:bodyPr anchor="b">
            <a:normAutofit/>
          </a:bodyPr>
          <a:lstStyle>
            <a:lvl1pPr>
              <a:defRPr sz="36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581194" y="2495445"/>
            <a:ext cx="10993546" cy="590321"/>
          </a:xfrm>
        </p:spPr>
        <p:txBody>
          <a:bodyPr anchor="t">
            <a:normAutofit/>
          </a:bodyPr>
          <a:lstStyle>
            <a:lvl1pPr marL="0" indent="0" algn="l">
              <a:buNone/>
              <a:defRPr sz="1600" cap="all">
                <a:solidFill>
                  <a:schemeClr val="accent2"/>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a:xfrm>
            <a:off x="7605951" y="5956137"/>
            <a:ext cx="2844800" cy="365125"/>
          </a:xfrm>
        </p:spPr>
        <p:txBody>
          <a:bodyPr/>
          <a:lstStyle>
            <a:lvl1pPr>
              <a:defRPr>
                <a:solidFill>
                  <a:schemeClr val="accent1">
                    <a:lumMod val="75000"/>
                    <a:lumOff val="25000"/>
                  </a:schemeClr>
                </a:solidFill>
              </a:defRPr>
            </a:lvl1pPr>
          </a:lstStyle>
          <a:p>
            <a:fld id="{B61BEF0D-F0BB-DE4B-95CE-6DB70DBA9567}" type="datetimeFigureOut">
              <a:rPr lang="en-US" dirty="0"/>
              <a:pPr/>
              <a:t>11/18/25</a:t>
            </a:fld>
            <a:endParaRPr lang="en-US" dirty="0"/>
          </a:p>
        </p:txBody>
      </p:sp>
      <p:sp>
        <p:nvSpPr>
          <p:cNvPr id="5" name="Footer Placeholder 4"/>
          <p:cNvSpPr>
            <a:spLocks noGrp="1"/>
          </p:cNvSpPr>
          <p:nvPr>
            <p:ph type="ftr" sz="quarter" idx="11"/>
          </p:nvPr>
        </p:nvSpPr>
        <p:spPr>
          <a:xfrm>
            <a:off x="581192" y="5951811"/>
            <a:ext cx="6917210" cy="365125"/>
          </a:xfrm>
        </p:spPr>
        <p:txBody>
          <a:bodyPr/>
          <a:lstStyle>
            <a:lvl1pPr>
              <a:defRPr>
                <a:solidFill>
                  <a:schemeClr val="accent1">
                    <a:lumMod val="75000"/>
                    <a:lumOff val="25000"/>
                  </a:schemeClr>
                </a:solidFill>
              </a:defRPr>
            </a:lvl1pPr>
          </a:lstStyle>
          <a:p>
            <a:endParaRPr lang="en-US" dirty="0"/>
          </a:p>
        </p:txBody>
      </p:sp>
      <p:sp>
        <p:nvSpPr>
          <p:cNvPr id="6" name="Slide Number Placeholder 5"/>
          <p:cNvSpPr>
            <a:spLocks noGrp="1"/>
          </p:cNvSpPr>
          <p:nvPr>
            <p:ph type="sldNum" sz="quarter" idx="12"/>
          </p:nvPr>
        </p:nvSpPr>
        <p:spPr>
          <a:xfrm>
            <a:off x="10558300" y="5956137"/>
            <a:ext cx="1016440" cy="365125"/>
          </a:xfrm>
        </p:spPr>
        <p:txBody>
          <a:bodyPr/>
          <a:lstStyle>
            <a:lvl1pPr>
              <a:defRPr>
                <a:solidFill>
                  <a:schemeClr val="accent1">
                    <a:lumMod val="75000"/>
                    <a:lumOff val="25000"/>
                  </a:schemeClr>
                </a:solidFill>
              </a:defRPr>
            </a:lvl1pPr>
          </a:lstStyle>
          <a:p>
            <a:fld id="{D57F1E4F-1CFF-5643-939E-217C01CDF565}" type="slidenum">
              <a:rPr lang="en-US" dirty="0"/>
              <a:pPr/>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7" name="Rectangle 6"/>
          <p:cNvSpPr>
            <a:spLocks noChangeAspect="1"/>
          </p:cNvSpPr>
          <p:nvPr/>
        </p:nvSpPr>
        <p:spPr>
          <a:xfrm>
            <a:off x="440286" y="614407"/>
            <a:ext cx="11309338" cy="1189298"/>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2" y="702156"/>
            <a:ext cx="11029616" cy="1013800"/>
          </a:xfrm>
        </p:spPr>
        <p:txBody>
          <a:bodyPr/>
          <a:lstStyle/>
          <a:p>
            <a:r>
              <a:rPr lang="en-US"/>
              <a:t>Click to edit Master title style</a:t>
            </a:r>
            <a:endParaRPr lang="en-US" dirty="0"/>
          </a:p>
        </p:txBody>
      </p:sp>
      <p:sp>
        <p:nvSpPr>
          <p:cNvPr id="3" name="Content Placeholder 2"/>
          <p:cNvSpPr>
            <a:spLocks noGrp="1"/>
          </p:cNvSpPr>
          <p:nvPr>
            <p:ph idx="1"/>
          </p:nvPr>
        </p:nvSpPr>
        <p:spPr>
          <a:xfrm>
            <a:off x="581192" y="2180496"/>
            <a:ext cx="11029615" cy="367830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11/18/25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a:xfrm>
            <a:off x="10558300" y="5956137"/>
            <a:ext cx="1052508" cy="365125"/>
          </a:xfrm>
        </p:spPr>
        <p:txBody>
          <a:bodyPr/>
          <a:lstStyle/>
          <a:p>
            <a:fld id="{D57F1E4F-1CFF-5643-939E-217C01CDF565}" type="slidenum">
              <a:rPr lang="en-US" dirty="0"/>
              <a:pPr/>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8" name="Rectangle 7"/>
          <p:cNvSpPr>
            <a:spLocks noChangeAspect="1"/>
          </p:cNvSpPr>
          <p:nvPr/>
        </p:nvSpPr>
        <p:spPr>
          <a:xfrm>
            <a:off x="447817" y="5141974"/>
            <a:ext cx="11290860"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3" y="3043910"/>
            <a:ext cx="11029615" cy="1497507"/>
          </a:xfrm>
        </p:spPr>
        <p:txBody>
          <a:bodyPr anchor="b">
            <a:normAutofit/>
          </a:bodyPr>
          <a:lstStyle>
            <a:lvl1pPr algn="l">
              <a:defRPr sz="3600" b="0" cap="all">
                <a:solidFill>
                  <a:schemeClr val="accent1"/>
                </a:solidFill>
              </a:defRPr>
            </a:lvl1pPr>
          </a:lstStyle>
          <a:p>
            <a:r>
              <a:rPr lang="en-US"/>
              <a:t>Click to edit Master title style</a:t>
            </a:r>
            <a:endParaRPr lang="en-US" dirty="0"/>
          </a:p>
        </p:txBody>
      </p:sp>
      <p:sp>
        <p:nvSpPr>
          <p:cNvPr id="3" name="Text Placeholder 2"/>
          <p:cNvSpPr>
            <a:spLocks noGrp="1"/>
          </p:cNvSpPr>
          <p:nvPr>
            <p:ph type="body" idx="1"/>
          </p:nvPr>
        </p:nvSpPr>
        <p:spPr>
          <a:xfrm>
            <a:off x="581192" y="4541417"/>
            <a:ext cx="11029615" cy="600556"/>
          </a:xfrm>
        </p:spPr>
        <p:txBody>
          <a:bodyPr anchor="t">
            <a:normAutofit/>
          </a:bodyPr>
          <a:lstStyle>
            <a:lvl1pPr marL="0" indent="0" algn="l">
              <a:buNone/>
              <a:defRPr sz="1800" cap="all">
                <a:solidFill>
                  <a:schemeClr val="accent2"/>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lvl1pPr>
              <a:defRPr>
                <a:solidFill>
                  <a:schemeClr val="accent1">
                    <a:lumMod val="75000"/>
                    <a:lumOff val="25000"/>
                  </a:schemeClr>
                </a:solidFill>
              </a:defRPr>
            </a:lvl1pPr>
          </a:lstStyle>
          <a:p>
            <a:fld id="{B61BEF0D-F0BB-DE4B-95CE-6DB70DBA9567}" type="datetimeFigureOut">
              <a:rPr lang="en-US" dirty="0"/>
              <a:pPr/>
              <a:t>11/18/25</a:t>
            </a:fld>
            <a:endParaRPr lang="en-US" dirty="0"/>
          </a:p>
        </p:txBody>
      </p:sp>
      <p:sp>
        <p:nvSpPr>
          <p:cNvPr id="5" name="Footer Placeholder 4"/>
          <p:cNvSpPr>
            <a:spLocks noGrp="1"/>
          </p:cNvSpPr>
          <p:nvPr>
            <p:ph type="ftr" sz="quarter" idx="11"/>
          </p:nvPr>
        </p:nvSpPr>
        <p:spPr/>
        <p:txBody>
          <a:bodyPr/>
          <a:lstStyle>
            <a:lvl1pPr>
              <a:defRPr>
                <a:solidFill>
                  <a:schemeClr val="accent1">
                    <a:lumMod val="75000"/>
                    <a:lumOff val="25000"/>
                  </a:schemeClr>
                </a:solidFill>
              </a:defRPr>
            </a:lvl1pPr>
          </a:lstStyle>
          <a:p>
            <a:endParaRPr lang="en-US" dirty="0"/>
          </a:p>
        </p:txBody>
      </p:sp>
      <p:sp>
        <p:nvSpPr>
          <p:cNvPr id="6" name="Slide Number Placeholder 5"/>
          <p:cNvSpPr>
            <a:spLocks noGrp="1"/>
          </p:cNvSpPr>
          <p:nvPr>
            <p:ph type="sldNum" sz="quarter" idx="12"/>
          </p:nvPr>
        </p:nvSpPr>
        <p:spPr/>
        <p:txBody>
          <a:bodyPr/>
          <a:lstStyle>
            <a:lvl1pPr>
              <a:defRPr>
                <a:solidFill>
                  <a:schemeClr val="accent1">
                    <a:lumMod val="75000"/>
                    <a:lumOff val="25000"/>
                  </a:schemeClr>
                </a:solidFill>
              </a:defRPr>
            </a:lvl1pPr>
          </a:lstStyle>
          <a:p>
            <a:fld id="{D57F1E4F-1CFF-5643-939E-217C01CDF565}" type="slidenum">
              <a:rPr lang="en-US" dirty="0"/>
              <a:pPr/>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Rectangle 7"/>
          <p:cNvSpPr>
            <a:spLocks noChangeAspect="1"/>
          </p:cNvSpPr>
          <p:nvPr/>
        </p:nvSpPr>
        <p:spPr>
          <a:xfrm>
            <a:off x="445982" y="606554"/>
            <a:ext cx="11300036"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3" y="729658"/>
            <a:ext cx="11029616" cy="988332"/>
          </a:xfrm>
        </p:spPr>
        <p:txBody>
          <a:bodyPr/>
          <a:lstStyle/>
          <a:p>
            <a:r>
              <a:rPr lang="en-US"/>
              <a:t>Click to edit Master title style</a:t>
            </a:r>
            <a:endParaRPr lang="en-US" dirty="0"/>
          </a:p>
        </p:txBody>
      </p:sp>
      <p:sp>
        <p:nvSpPr>
          <p:cNvPr id="3" name="Content Placeholder 2"/>
          <p:cNvSpPr>
            <a:spLocks noGrp="1"/>
          </p:cNvSpPr>
          <p:nvPr>
            <p:ph sz="half" idx="1"/>
          </p:nvPr>
        </p:nvSpPr>
        <p:spPr>
          <a:xfrm>
            <a:off x="581193" y="2228003"/>
            <a:ext cx="5422390" cy="363304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88417" y="2228003"/>
            <a:ext cx="5422392" cy="363304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B61BEF0D-F0BB-DE4B-95CE-6DB70DBA9567}" type="datetimeFigureOut">
              <a:rPr lang="en-US" dirty="0"/>
              <a:pPr/>
              <a:t>11/18/25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1" name="Rectangle 10"/>
          <p:cNvSpPr>
            <a:spLocks noChangeAspect="1"/>
          </p:cNvSpPr>
          <p:nvPr/>
        </p:nvSpPr>
        <p:spPr>
          <a:xfrm>
            <a:off x="445982" y="606554"/>
            <a:ext cx="11300036"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12" name="Title 1"/>
          <p:cNvSpPr>
            <a:spLocks noGrp="1"/>
          </p:cNvSpPr>
          <p:nvPr>
            <p:ph type="title"/>
          </p:nvPr>
        </p:nvSpPr>
        <p:spPr>
          <a:xfrm>
            <a:off x="581193" y="729658"/>
            <a:ext cx="11029616" cy="988332"/>
          </a:xfrm>
        </p:spPr>
        <p:txBody>
          <a:bodyPr/>
          <a:lstStyle/>
          <a:p>
            <a:r>
              <a:rPr lang="en-US"/>
              <a:t>Click to edit Master title style</a:t>
            </a:r>
            <a:endParaRPr lang="en-US" dirty="0"/>
          </a:p>
        </p:txBody>
      </p:sp>
      <p:sp>
        <p:nvSpPr>
          <p:cNvPr id="3" name="Text Placeholder 2"/>
          <p:cNvSpPr>
            <a:spLocks noGrp="1"/>
          </p:cNvSpPr>
          <p:nvPr>
            <p:ph type="body" idx="1"/>
          </p:nvPr>
        </p:nvSpPr>
        <p:spPr>
          <a:xfrm>
            <a:off x="887219" y="2250892"/>
            <a:ext cx="5087075" cy="536005"/>
          </a:xfrm>
        </p:spPr>
        <p:txBody>
          <a:bodyPr anchor="b">
            <a:noAutofit/>
          </a:bodyPr>
          <a:lstStyle>
            <a:lvl1pPr marL="0" indent="0">
              <a:buNone/>
              <a:defRPr sz="22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581194" y="2926052"/>
            <a:ext cx="5393100" cy="2934999"/>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523735" y="2250892"/>
            <a:ext cx="5087073" cy="553373"/>
          </a:xfrm>
        </p:spPr>
        <p:txBody>
          <a:bodyPr anchor="b">
            <a:noAutofit/>
          </a:bodyPr>
          <a:lstStyle>
            <a:lvl1pPr marL="0" indent="0">
              <a:buNone/>
              <a:defRPr sz="22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17709" y="2926052"/>
            <a:ext cx="5393100" cy="2934999"/>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dirty="0"/>
              <a:pPr/>
              <a:t>11/18/25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7" name="Rectangle 6"/>
          <p:cNvSpPr>
            <a:spLocks noChangeAspect="1"/>
          </p:cNvSpPr>
          <p:nvPr/>
        </p:nvSpPr>
        <p:spPr>
          <a:xfrm>
            <a:off x="440683" y="606554"/>
            <a:ext cx="11300036"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8" name="Title 1"/>
          <p:cNvSpPr>
            <a:spLocks noGrp="1"/>
          </p:cNvSpPr>
          <p:nvPr>
            <p:ph type="title"/>
          </p:nvPr>
        </p:nvSpPr>
        <p:spPr>
          <a:xfrm>
            <a:off x="575894" y="729658"/>
            <a:ext cx="11029616" cy="988332"/>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dirty="0"/>
              <a:pPr/>
              <a:t>11/18/25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dirty="0"/>
              <a:pPr/>
              <a:t>11/18/25</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9" name="Rectangle 8"/>
          <p:cNvSpPr>
            <a:spLocks noChangeAspect="1"/>
          </p:cNvSpPr>
          <p:nvPr/>
        </p:nvSpPr>
        <p:spPr>
          <a:xfrm>
            <a:off x="447817" y="5141973"/>
            <a:ext cx="11298200" cy="1274702"/>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2" y="5262296"/>
            <a:ext cx="4909445" cy="689514"/>
          </a:xfrm>
        </p:spPr>
        <p:txBody>
          <a:bodyPr anchor="ctr"/>
          <a:lstStyle>
            <a:lvl1pPr algn="l">
              <a:defRPr sz="2000" b="0">
                <a:solidFill>
                  <a:schemeClr val="accent1">
                    <a:lumMod val="75000"/>
                    <a:lumOff val="25000"/>
                  </a:schemeClr>
                </a:solidFill>
              </a:defRPr>
            </a:lvl1pPr>
          </a:lstStyle>
          <a:p>
            <a:r>
              <a:rPr lang="en-US"/>
              <a:t>Click to edit Master title style</a:t>
            </a:r>
            <a:endParaRPr lang="en-US" dirty="0"/>
          </a:p>
        </p:txBody>
      </p:sp>
      <p:sp>
        <p:nvSpPr>
          <p:cNvPr id="3" name="Content Placeholder 2"/>
          <p:cNvSpPr>
            <a:spLocks noGrp="1"/>
          </p:cNvSpPr>
          <p:nvPr>
            <p:ph idx="1"/>
          </p:nvPr>
        </p:nvSpPr>
        <p:spPr>
          <a:xfrm>
            <a:off x="447816" y="601200"/>
            <a:ext cx="11292840" cy="4204800"/>
          </a:xfrm>
        </p:spPr>
        <p:txBody>
          <a:bodyPr anchor="ctr">
            <a:normAutofit/>
          </a:bodyPr>
          <a:lstStyle>
            <a:lvl1pPr>
              <a:defRPr sz="2000">
                <a:solidFill>
                  <a:schemeClr val="tx2"/>
                </a:solidFill>
              </a:defRPr>
            </a:lvl1pPr>
            <a:lvl2pPr>
              <a:defRPr sz="1800">
                <a:solidFill>
                  <a:schemeClr val="tx2"/>
                </a:solidFill>
              </a:defRPr>
            </a:lvl2pPr>
            <a:lvl3pPr>
              <a:defRPr sz="1600">
                <a:solidFill>
                  <a:schemeClr val="tx2"/>
                </a:solidFill>
              </a:defRPr>
            </a:lvl3pPr>
            <a:lvl4pPr>
              <a:defRPr sz="1400">
                <a:solidFill>
                  <a:schemeClr val="tx2"/>
                </a:solidFill>
              </a:defRPr>
            </a:lvl4pPr>
            <a:lvl5pPr>
              <a:defRPr sz="1400">
                <a:solidFill>
                  <a:schemeClr val="tx2"/>
                </a:solidFill>
              </a:defRPr>
            </a:lvl5pPr>
            <a:lvl6pPr>
              <a:defRPr sz="1400">
                <a:solidFill>
                  <a:schemeClr val="tx2"/>
                </a:solidFill>
              </a:defRPr>
            </a:lvl6pPr>
            <a:lvl7pPr>
              <a:defRPr sz="1400">
                <a:solidFill>
                  <a:schemeClr val="tx2"/>
                </a:solidFill>
              </a:defRPr>
            </a:lvl7pPr>
            <a:lvl8pPr>
              <a:defRPr sz="1400">
                <a:solidFill>
                  <a:schemeClr val="tx2"/>
                </a:solidFill>
              </a:defRPr>
            </a:lvl8pPr>
            <a:lvl9pPr>
              <a:defRPr sz="1400">
                <a:solidFill>
                  <a:schemeClr val="tx2"/>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5740823" y="5262296"/>
            <a:ext cx="5869987" cy="689515"/>
          </a:xfrm>
        </p:spPr>
        <p:txBody>
          <a:bodyPr anchor="ctr">
            <a:normAutofit/>
          </a:bodyPr>
          <a:lstStyle>
            <a:lvl1pPr marL="0" indent="0" algn="r">
              <a:buNone/>
              <a:defRPr sz="1100">
                <a:solidFill>
                  <a:schemeClr val="bg1"/>
                </a:solidFill>
              </a:defRPr>
            </a:lvl1pPr>
            <a:lvl2pPr marL="457200" indent="0">
              <a:buNone/>
              <a:defRPr sz="11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lvl1pPr>
              <a:defRPr>
                <a:solidFill>
                  <a:schemeClr val="accent1">
                    <a:lumMod val="75000"/>
                    <a:lumOff val="25000"/>
                  </a:schemeClr>
                </a:solidFill>
              </a:defRPr>
            </a:lvl1pPr>
          </a:lstStyle>
          <a:p>
            <a:fld id="{B61BEF0D-F0BB-DE4B-95CE-6DB70DBA9567}" type="datetimeFigureOut">
              <a:rPr lang="en-US" dirty="0"/>
              <a:pPr/>
              <a:t>11/18/25</a:t>
            </a:fld>
            <a:endParaRPr lang="en-US" dirty="0"/>
          </a:p>
        </p:txBody>
      </p:sp>
      <p:sp>
        <p:nvSpPr>
          <p:cNvPr id="6" name="Footer Placeholder 5"/>
          <p:cNvSpPr>
            <a:spLocks noGrp="1"/>
          </p:cNvSpPr>
          <p:nvPr>
            <p:ph type="ftr" sz="quarter" idx="11"/>
          </p:nvPr>
        </p:nvSpPr>
        <p:spPr/>
        <p:txBody>
          <a:bodyPr/>
          <a:lstStyle>
            <a:lvl1pPr>
              <a:defRPr>
                <a:solidFill>
                  <a:schemeClr val="accent1">
                    <a:lumMod val="75000"/>
                    <a:lumOff val="25000"/>
                  </a:schemeClr>
                </a:solidFill>
              </a:defRPr>
            </a:lvl1pPr>
          </a:lstStyle>
          <a:p>
            <a:endParaRPr lang="en-US" dirty="0"/>
          </a:p>
        </p:txBody>
      </p:sp>
      <p:sp>
        <p:nvSpPr>
          <p:cNvPr id="7" name="Slide Number Placeholder 6"/>
          <p:cNvSpPr>
            <a:spLocks noGrp="1"/>
          </p:cNvSpPr>
          <p:nvPr>
            <p:ph type="sldNum" sz="quarter" idx="12"/>
          </p:nvPr>
        </p:nvSpPr>
        <p:spPr/>
        <p:txBody>
          <a:bodyPr/>
          <a:lstStyle>
            <a:lvl1pPr>
              <a:defRPr>
                <a:solidFill>
                  <a:schemeClr val="accent1">
                    <a:lumMod val="75000"/>
                    <a:lumOff val="25000"/>
                  </a:schemeClr>
                </a:solidFill>
              </a:defRPr>
            </a:lvl1pPr>
          </a:lstStyle>
          <a:p>
            <a:fld id="{D57F1E4F-1CFF-5643-939E-217C01CDF565}" type="slidenum">
              <a:rPr lang="en-US" dirty="0"/>
              <a:pPr/>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81193" y="4693389"/>
            <a:ext cx="11029616" cy="566738"/>
          </a:xfrm>
        </p:spPr>
        <p:txBody>
          <a:bodyPr anchor="b">
            <a:normAutofit/>
          </a:bodyPr>
          <a:lstStyle>
            <a:lvl1pPr algn="l">
              <a:defRPr sz="2400" b="0">
                <a:solidFill>
                  <a:schemeClr val="accent1"/>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447817" y="599725"/>
            <a:ext cx="11290859" cy="3557252"/>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581192" y="5260127"/>
            <a:ext cx="11029617" cy="598671"/>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11/18/25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8" name="Rectangle 7"/>
          <p:cNvSpPr>
            <a:spLocks noChangeAspect="1"/>
          </p:cNvSpPr>
          <p:nvPr/>
        </p:nvSpPr>
        <p:spPr>
          <a:xfrm>
            <a:off x="440286" y="614407"/>
            <a:ext cx="11309338" cy="1189298"/>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9" name="Title 1"/>
          <p:cNvSpPr>
            <a:spLocks noGrp="1"/>
          </p:cNvSpPr>
          <p:nvPr>
            <p:ph type="title"/>
          </p:nvPr>
        </p:nvSpPr>
        <p:spPr>
          <a:xfrm>
            <a:off x="581192" y="702156"/>
            <a:ext cx="11029616" cy="1013800"/>
          </a:xfrm>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lvl1pPr algn="l">
              <a:defRPr/>
            </a:lvl1pPr>
            <a:lvl2pPr algn="l">
              <a:defRPr/>
            </a:lvl2pPr>
            <a:lvl3pPr algn="l">
              <a:defRPr/>
            </a:lvl3pPr>
            <a:lvl4pPr algn="l">
              <a:defRPr/>
            </a:lvl4pPr>
            <a:lvl5pPr algn="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11/18/25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7" name="Rectangle 6"/>
          <p:cNvSpPr>
            <a:spLocks noChangeAspect="1"/>
          </p:cNvSpPr>
          <p:nvPr/>
        </p:nvSpPr>
        <p:spPr>
          <a:xfrm>
            <a:off x="8839201" y="599725"/>
            <a:ext cx="2906817" cy="581695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Vertical Title 1"/>
          <p:cNvSpPr>
            <a:spLocks noGrp="1"/>
          </p:cNvSpPr>
          <p:nvPr>
            <p:ph type="title" orient="vert"/>
          </p:nvPr>
        </p:nvSpPr>
        <p:spPr>
          <a:xfrm>
            <a:off x="8839201" y="675726"/>
            <a:ext cx="2004164" cy="5183073"/>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774923" y="675726"/>
            <a:ext cx="7896279" cy="5183073"/>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8993673" y="5956137"/>
            <a:ext cx="1328141" cy="365125"/>
          </a:xfrm>
        </p:spPr>
        <p:txBody>
          <a:bodyPr/>
          <a:lstStyle>
            <a:lvl1pPr>
              <a:defRPr>
                <a:solidFill>
                  <a:schemeClr val="accent1">
                    <a:lumMod val="75000"/>
                    <a:lumOff val="25000"/>
                  </a:schemeClr>
                </a:solidFill>
              </a:defRPr>
            </a:lvl1pPr>
          </a:lstStyle>
          <a:p>
            <a:fld id="{B61BEF0D-F0BB-DE4B-95CE-6DB70DBA9567}" type="datetimeFigureOut">
              <a:rPr lang="en-US" dirty="0"/>
              <a:pPr/>
              <a:t>11/18/25</a:t>
            </a:fld>
            <a:endParaRPr lang="en-US" dirty="0"/>
          </a:p>
        </p:txBody>
      </p:sp>
      <p:sp>
        <p:nvSpPr>
          <p:cNvPr id="5" name="Footer Placeholder 4"/>
          <p:cNvSpPr>
            <a:spLocks noGrp="1"/>
          </p:cNvSpPr>
          <p:nvPr>
            <p:ph type="ftr" sz="quarter" idx="11"/>
          </p:nvPr>
        </p:nvSpPr>
        <p:spPr>
          <a:xfrm>
            <a:off x="774923" y="5951811"/>
            <a:ext cx="7896279" cy="365125"/>
          </a:xfrm>
        </p:spPr>
        <p:txBody>
          <a:bodyPr/>
          <a:lstStyle/>
          <a:p>
            <a:endParaRPr lang="en-US" dirty="0"/>
          </a:p>
        </p:txBody>
      </p:sp>
      <p:sp>
        <p:nvSpPr>
          <p:cNvPr id="6" name="Slide Number Placeholder 5"/>
          <p:cNvSpPr>
            <a:spLocks noGrp="1"/>
          </p:cNvSpPr>
          <p:nvPr>
            <p:ph type="sldNum" sz="quarter" idx="12"/>
          </p:nvPr>
        </p:nvSpPr>
        <p:spPr>
          <a:xfrm>
            <a:off x="10446615" y="5956137"/>
            <a:ext cx="1164195" cy="365125"/>
          </a:xfrm>
        </p:spPr>
        <p:txBody>
          <a:bodyPr/>
          <a:lstStyle>
            <a:lvl1pPr>
              <a:defRPr>
                <a:solidFill>
                  <a:schemeClr val="accent1">
                    <a:lumMod val="75000"/>
                    <a:lumOff val="25000"/>
                  </a:schemeClr>
                </a:solidFill>
              </a:defRPr>
            </a:lvl1pPr>
          </a:lstStyle>
          <a:p>
            <a:fld id="{D57F1E4F-1CFF-5643-939E-217C01CDF565}" type="slidenum">
              <a:rPr lang="en-US" dirty="0"/>
              <a:pPr/>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81192" y="705124"/>
            <a:ext cx="11029616" cy="1189554"/>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581192" y="2336003"/>
            <a:ext cx="11029616" cy="3522794"/>
          </a:xfrm>
          <a:prstGeom prst="rect">
            <a:avLst/>
          </a:prstGeom>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605951" y="5956137"/>
            <a:ext cx="2844799" cy="365125"/>
          </a:xfrm>
          <a:prstGeom prst="rect">
            <a:avLst/>
          </a:prstGeom>
        </p:spPr>
        <p:txBody>
          <a:bodyPr vert="horz" lIns="91440" tIns="45720" rIns="91440" bIns="45720" rtlCol="0" anchor="ctr"/>
          <a:lstStyle>
            <a:lvl1pPr algn="r">
              <a:defRPr sz="900">
                <a:solidFill>
                  <a:schemeClr val="accent2"/>
                </a:solidFill>
              </a:defRPr>
            </a:lvl1pPr>
          </a:lstStyle>
          <a:p>
            <a:fld id="{B61BEF0D-F0BB-DE4B-95CE-6DB70DBA9567}" type="datetimeFigureOut">
              <a:rPr lang="en-US" dirty="0"/>
              <a:pPr/>
              <a:t>11/18/25</a:t>
            </a:fld>
            <a:endParaRPr lang="en-US" dirty="0"/>
          </a:p>
        </p:txBody>
      </p:sp>
      <p:sp>
        <p:nvSpPr>
          <p:cNvPr id="5" name="Footer Placeholder 4"/>
          <p:cNvSpPr>
            <a:spLocks noGrp="1"/>
          </p:cNvSpPr>
          <p:nvPr>
            <p:ph type="ftr" sz="quarter" idx="3"/>
          </p:nvPr>
        </p:nvSpPr>
        <p:spPr>
          <a:xfrm>
            <a:off x="581192" y="5951811"/>
            <a:ext cx="6917210" cy="365125"/>
          </a:xfrm>
          <a:prstGeom prst="rect">
            <a:avLst/>
          </a:prstGeom>
        </p:spPr>
        <p:txBody>
          <a:bodyPr vert="horz" lIns="91440" tIns="45720" rIns="91440" bIns="45720" rtlCol="0" anchor="ctr"/>
          <a:lstStyle>
            <a:lvl1pPr algn="l">
              <a:defRPr sz="900" cap="all">
                <a:solidFill>
                  <a:schemeClr val="accent2"/>
                </a:solidFill>
              </a:defRPr>
            </a:lvl1pPr>
          </a:lstStyle>
          <a:p>
            <a:endParaRPr lang="en-US" dirty="0"/>
          </a:p>
        </p:txBody>
      </p:sp>
      <p:sp>
        <p:nvSpPr>
          <p:cNvPr id="6" name="Slide Number Placeholder 5"/>
          <p:cNvSpPr>
            <a:spLocks noGrp="1"/>
          </p:cNvSpPr>
          <p:nvPr>
            <p:ph type="sldNum" sz="quarter" idx="4"/>
          </p:nvPr>
        </p:nvSpPr>
        <p:spPr>
          <a:xfrm>
            <a:off x="10558300" y="5956137"/>
            <a:ext cx="1052510" cy="365125"/>
          </a:xfrm>
          <a:prstGeom prst="rect">
            <a:avLst/>
          </a:prstGeom>
        </p:spPr>
        <p:txBody>
          <a:bodyPr vert="horz" lIns="91440" tIns="45720" rIns="91440" bIns="45720" rtlCol="0" anchor="ctr"/>
          <a:lstStyle>
            <a:lvl1pPr algn="r">
              <a:defRPr sz="900">
                <a:solidFill>
                  <a:schemeClr val="accent2"/>
                </a:solidFill>
              </a:defRPr>
            </a:lvl1pPr>
          </a:lstStyle>
          <a:p>
            <a:fld id="{D57F1E4F-1CFF-5643-939E-217C01CDF565}" type="slidenum">
              <a:rPr lang="en-US" dirty="0"/>
              <a:pPr/>
              <a:t>‹#›</a:t>
            </a:fld>
            <a:endParaRPr lang="en-US" dirty="0"/>
          </a:p>
        </p:txBody>
      </p:sp>
      <p:sp>
        <p:nvSpPr>
          <p:cNvPr id="9" name="Rectangle 8"/>
          <p:cNvSpPr/>
          <p:nvPr/>
        </p:nvSpPr>
        <p:spPr>
          <a:xfrm>
            <a:off x="446534" y="457200"/>
            <a:ext cx="3703320" cy="9499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0" name="Rectangle 9"/>
          <p:cNvSpPr/>
          <p:nvPr/>
        </p:nvSpPr>
        <p:spPr>
          <a:xfrm>
            <a:off x="8042147" y="453643"/>
            <a:ext cx="3703320" cy="98554"/>
          </a:xfrm>
          <a:prstGeom prst="rect">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1" name="Rectangle 10"/>
          <p:cNvSpPr/>
          <p:nvPr/>
        </p:nvSpPr>
        <p:spPr>
          <a:xfrm>
            <a:off x="4241830" y="457200"/>
            <a:ext cx="3703320" cy="91440"/>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457200" rtl="0" eaLnBrk="1" latinLnBrk="0" hangingPunct="1">
        <a:spcBef>
          <a:spcPct val="0"/>
        </a:spcBef>
        <a:buNone/>
        <a:defRPr sz="2800" b="0" kern="1200" cap="all">
          <a:solidFill>
            <a:schemeClr val="bg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06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mn-lt"/>
          <a:ea typeface="+mn-ea"/>
          <a:cs typeface="+mn-cs"/>
        </a:defRPr>
      </a:lvl1pPr>
      <a:lvl2pPr marL="630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900000" indent="-270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1.xml"/><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3.xml"/><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CB3115-7F92-3918-9E7F-ED6CBED64CF1}"/>
              </a:ext>
            </a:extLst>
          </p:cNvPr>
          <p:cNvSpPr>
            <a:spLocks noGrp="1"/>
          </p:cNvSpPr>
          <p:nvPr>
            <p:ph type="ctrTitle"/>
          </p:nvPr>
        </p:nvSpPr>
        <p:spPr/>
        <p:txBody>
          <a:bodyPr/>
          <a:lstStyle/>
          <a:p>
            <a:r>
              <a:rPr lang="en-US" dirty="0"/>
              <a:t>Food Price Analysis and Market Segmentation Across Pakistani Cities</a:t>
            </a:r>
          </a:p>
        </p:txBody>
      </p:sp>
      <p:sp>
        <p:nvSpPr>
          <p:cNvPr id="3" name="Subtitle 2">
            <a:extLst>
              <a:ext uri="{FF2B5EF4-FFF2-40B4-BE49-F238E27FC236}">
                <a16:creationId xmlns:a16="http://schemas.microsoft.com/office/drawing/2014/main" id="{BF75283D-862D-0185-C2F8-014C2AA36163}"/>
              </a:ext>
            </a:extLst>
          </p:cNvPr>
          <p:cNvSpPr>
            <a:spLocks noGrp="1"/>
          </p:cNvSpPr>
          <p:nvPr>
            <p:ph type="subTitle" idx="1"/>
          </p:nvPr>
        </p:nvSpPr>
        <p:spPr/>
        <p:txBody>
          <a:bodyPr/>
          <a:lstStyle/>
          <a:p>
            <a:r>
              <a:rPr lang="en-US" dirty="0"/>
              <a:t>Emily Picinich</a:t>
            </a:r>
          </a:p>
        </p:txBody>
      </p:sp>
    </p:spTree>
    <p:extLst>
      <p:ext uri="{BB962C8B-B14F-4D97-AF65-F5344CB8AC3E}">
        <p14:creationId xmlns:p14="http://schemas.microsoft.com/office/powerpoint/2010/main" val="39208350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09F4A3-49BF-2234-31B9-DF51059C5F07}"/>
              </a:ext>
            </a:extLst>
          </p:cNvPr>
          <p:cNvSpPr>
            <a:spLocks noGrp="1"/>
          </p:cNvSpPr>
          <p:nvPr>
            <p:ph type="title"/>
          </p:nvPr>
        </p:nvSpPr>
        <p:spPr/>
        <p:txBody>
          <a:bodyPr/>
          <a:lstStyle/>
          <a:p>
            <a:r>
              <a:rPr lang="en-US" dirty="0"/>
              <a:t>Business Problem</a:t>
            </a:r>
          </a:p>
        </p:txBody>
      </p:sp>
      <p:sp>
        <p:nvSpPr>
          <p:cNvPr id="3" name="Content Placeholder 2">
            <a:extLst>
              <a:ext uri="{FF2B5EF4-FFF2-40B4-BE49-F238E27FC236}">
                <a16:creationId xmlns:a16="http://schemas.microsoft.com/office/drawing/2014/main" id="{8E18CE1C-3189-21F0-B31F-40A824901B5C}"/>
              </a:ext>
            </a:extLst>
          </p:cNvPr>
          <p:cNvSpPr>
            <a:spLocks noGrp="1"/>
          </p:cNvSpPr>
          <p:nvPr>
            <p:ph idx="1"/>
          </p:nvPr>
        </p:nvSpPr>
        <p:spPr/>
        <p:txBody>
          <a:bodyPr/>
          <a:lstStyle/>
          <a:p>
            <a:r>
              <a:rPr lang="en-US" dirty="0"/>
              <a:t>Rising food prices affect affordability and food security</a:t>
            </a:r>
          </a:p>
          <a:p>
            <a:r>
              <a:rPr lang="en-US" dirty="0"/>
              <a:t>No unified view of how prices vary across cities and categories</a:t>
            </a:r>
          </a:p>
          <a:p>
            <a:r>
              <a:rPr lang="en-US" dirty="0"/>
              <a:t>Need to identify price patterns, high-cost items, and market segmentation</a:t>
            </a:r>
          </a:p>
          <a:p>
            <a:r>
              <a:rPr lang="en-US" dirty="0"/>
              <a:t>Goal: Build analytical models and cluster cities based on price behavior</a:t>
            </a:r>
          </a:p>
        </p:txBody>
      </p:sp>
    </p:spTree>
    <p:extLst>
      <p:ext uri="{BB962C8B-B14F-4D97-AF65-F5344CB8AC3E}">
        <p14:creationId xmlns:p14="http://schemas.microsoft.com/office/powerpoint/2010/main" val="202797114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FB1106-5076-A777-3F4C-CE60D37D7496}"/>
              </a:ext>
            </a:extLst>
          </p:cNvPr>
          <p:cNvSpPr>
            <a:spLocks noGrp="1"/>
          </p:cNvSpPr>
          <p:nvPr>
            <p:ph type="title"/>
          </p:nvPr>
        </p:nvSpPr>
        <p:spPr/>
        <p:txBody>
          <a:bodyPr/>
          <a:lstStyle/>
          <a:p>
            <a:r>
              <a:rPr lang="en-US" dirty="0"/>
              <a:t>Background and History</a:t>
            </a:r>
          </a:p>
        </p:txBody>
      </p:sp>
      <p:sp>
        <p:nvSpPr>
          <p:cNvPr id="3" name="Content Placeholder 2">
            <a:extLst>
              <a:ext uri="{FF2B5EF4-FFF2-40B4-BE49-F238E27FC236}">
                <a16:creationId xmlns:a16="http://schemas.microsoft.com/office/drawing/2014/main" id="{C6174016-FE84-2F6C-7DF9-E8BF017FD9E5}"/>
              </a:ext>
            </a:extLst>
          </p:cNvPr>
          <p:cNvSpPr>
            <a:spLocks noGrp="1"/>
          </p:cNvSpPr>
          <p:nvPr>
            <p:ph idx="1"/>
          </p:nvPr>
        </p:nvSpPr>
        <p:spPr/>
        <p:txBody>
          <a:bodyPr/>
          <a:lstStyle/>
          <a:p>
            <a:r>
              <a:rPr lang="en-US" dirty="0"/>
              <a:t>Food prices across Pakistan show variability due to supply chain differences</a:t>
            </a:r>
          </a:p>
          <a:p>
            <a:r>
              <a:rPr lang="en-US" dirty="0"/>
              <a:t>Urban centers tend to experience higher price pressures</a:t>
            </a:r>
          </a:p>
          <a:p>
            <a:r>
              <a:rPr lang="en-US" dirty="0"/>
              <a:t>Some categories, like meat, oil, and beverages, consistently drive household costs</a:t>
            </a:r>
          </a:p>
        </p:txBody>
      </p:sp>
    </p:spTree>
    <p:extLst>
      <p:ext uri="{BB962C8B-B14F-4D97-AF65-F5344CB8AC3E}">
        <p14:creationId xmlns:p14="http://schemas.microsoft.com/office/powerpoint/2010/main" val="394962456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AB6A1F-8946-9868-67DD-8F71E7BE9E26}"/>
              </a:ext>
            </a:extLst>
          </p:cNvPr>
          <p:cNvSpPr>
            <a:spLocks noGrp="1"/>
          </p:cNvSpPr>
          <p:nvPr>
            <p:ph type="title"/>
          </p:nvPr>
        </p:nvSpPr>
        <p:spPr/>
        <p:txBody>
          <a:bodyPr/>
          <a:lstStyle/>
          <a:p>
            <a:r>
              <a:rPr lang="en-US" dirty="0"/>
              <a:t>Dataset Overview</a:t>
            </a:r>
          </a:p>
        </p:txBody>
      </p:sp>
      <p:sp>
        <p:nvSpPr>
          <p:cNvPr id="3" name="Content Placeholder 2">
            <a:extLst>
              <a:ext uri="{FF2B5EF4-FFF2-40B4-BE49-F238E27FC236}">
                <a16:creationId xmlns:a16="http://schemas.microsoft.com/office/drawing/2014/main" id="{0A602287-4854-8733-6D11-CA172466ABB8}"/>
              </a:ext>
            </a:extLst>
          </p:cNvPr>
          <p:cNvSpPr>
            <a:spLocks noGrp="1"/>
          </p:cNvSpPr>
          <p:nvPr>
            <p:ph idx="1"/>
          </p:nvPr>
        </p:nvSpPr>
        <p:spPr>
          <a:xfrm>
            <a:off x="581192" y="2180496"/>
            <a:ext cx="11029615" cy="3975348"/>
          </a:xfrm>
        </p:spPr>
        <p:txBody>
          <a:bodyPr>
            <a:normAutofit/>
          </a:bodyPr>
          <a:lstStyle/>
          <a:p>
            <a:r>
              <a:rPr lang="en-US" dirty="0"/>
              <a:t>1,100 observations</a:t>
            </a:r>
          </a:p>
          <a:p>
            <a:r>
              <a:rPr lang="en-US" dirty="0"/>
              <a:t>10 major cities</a:t>
            </a:r>
          </a:p>
          <a:p>
            <a:r>
              <a:rPr lang="en-US" dirty="0"/>
              <a:t>9 food categories, 35 distinct items</a:t>
            </a:r>
          </a:p>
          <a:p>
            <a:r>
              <a:rPr lang="en-US" dirty="0"/>
              <a:t>Variables include:</a:t>
            </a:r>
          </a:p>
          <a:p>
            <a:pPr lvl="1"/>
            <a:r>
              <a:rPr lang="en-US" dirty="0"/>
              <a:t>City</a:t>
            </a:r>
          </a:p>
          <a:p>
            <a:pPr lvl="1"/>
            <a:r>
              <a:rPr lang="en-US" dirty="0"/>
              <a:t>Category</a:t>
            </a:r>
          </a:p>
          <a:p>
            <a:pPr lvl="1"/>
            <a:r>
              <a:rPr lang="en-US" dirty="0"/>
              <a:t>Item</a:t>
            </a:r>
          </a:p>
          <a:p>
            <a:pPr lvl="1"/>
            <a:r>
              <a:rPr lang="en-US" dirty="0"/>
              <a:t>Month</a:t>
            </a:r>
          </a:p>
          <a:p>
            <a:pPr lvl="1"/>
            <a:r>
              <a:rPr lang="en-US" dirty="0"/>
              <a:t>Source</a:t>
            </a:r>
          </a:p>
          <a:p>
            <a:pPr lvl="1"/>
            <a:r>
              <a:rPr lang="en-US" dirty="0" err="1"/>
              <a:t>Price_per_Kg</a:t>
            </a:r>
            <a:endParaRPr lang="en-US" dirty="0"/>
          </a:p>
        </p:txBody>
      </p:sp>
    </p:spTree>
    <p:extLst>
      <p:ext uri="{BB962C8B-B14F-4D97-AF65-F5344CB8AC3E}">
        <p14:creationId xmlns:p14="http://schemas.microsoft.com/office/powerpoint/2010/main" val="313943663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DFD9BC-C19B-3E76-EAE7-B5354867370B}"/>
              </a:ext>
            </a:extLst>
          </p:cNvPr>
          <p:cNvSpPr>
            <a:spLocks noGrp="1"/>
          </p:cNvSpPr>
          <p:nvPr>
            <p:ph type="title"/>
          </p:nvPr>
        </p:nvSpPr>
        <p:spPr/>
        <p:txBody>
          <a:bodyPr/>
          <a:lstStyle/>
          <a:p>
            <a:r>
              <a:rPr lang="en-US" dirty="0"/>
              <a:t>Data Preparation</a:t>
            </a:r>
          </a:p>
        </p:txBody>
      </p:sp>
      <p:sp>
        <p:nvSpPr>
          <p:cNvPr id="3" name="Content Placeholder 2">
            <a:extLst>
              <a:ext uri="{FF2B5EF4-FFF2-40B4-BE49-F238E27FC236}">
                <a16:creationId xmlns:a16="http://schemas.microsoft.com/office/drawing/2014/main" id="{7B97CB85-072E-3BC2-204F-6F39B72FFD0E}"/>
              </a:ext>
            </a:extLst>
          </p:cNvPr>
          <p:cNvSpPr>
            <a:spLocks noGrp="1"/>
          </p:cNvSpPr>
          <p:nvPr>
            <p:ph idx="1"/>
          </p:nvPr>
        </p:nvSpPr>
        <p:spPr/>
        <p:txBody>
          <a:bodyPr/>
          <a:lstStyle/>
          <a:p>
            <a:r>
              <a:rPr lang="en-US" dirty="0"/>
              <a:t>Validated values</a:t>
            </a:r>
          </a:p>
          <a:p>
            <a:r>
              <a:rPr lang="en-US" dirty="0"/>
              <a:t>Encoded categorical variables</a:t>
            </a:r>
          </a:p>
          <a:p>
            <a:r>
              <a:rPr lang="en-US" dirty="0"/>
              <a:t>Scales features for machine learning</a:t>
            </a:r>
          </a:p>
          <a:p>
            <a:r>
              <a:rPr lang="en-US" dirty="0"/>
              <a:t>Created aggregated datasets for analysis</a:t>
            </a:r>
          </a:p>
        </p:txBody>
      </p:sp>
    </p:spTree>
    <p:extLst>
      <p:ext uri="{BB962C8B-B14F-4D97-AF65-F5344CB8AC3E}">
        <p14:creationId xmlns:p14="http://schemas.microsoft.com/office/powerpoint/2010/main" val="146940105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CB1E62-4007-C561-3A2A-2F9019CD2C10}"/>
              </a:ext>
            </a:extLst>
          </p:cNvPr>
          <p:cNvSpPr>
            <a:spLocks noGrp="1"/>
          </p:cNvSpPr>
          <p:nvPr>
            <p:ph type="title"/>
          </p:nvPr>
        </p:nvSpPr>
        <p:spPr/>
        <p:txBody>
          <a:bodyPr/>
          <a:lstStyle/>
          <a:p>
            <a:r>
              <a:rPr lang="en-US"/>
              <a:t>Distribution of Food Prices</a:t>
            </a:r>
            <a:endParaRPr lang="en-US" dirty="0"/>
          </a:p>
        </p:txBody>
      </p:sp>
      <p:pic>
        <p:nvPicPr>
          <p:cNvPr id="5" name="Content Placeholder 4" descr="A graph of food prices&#10;&#10;AI-generated content may be incorrect.">
            <a:extLst>
              <a:ext uri="{FF2B5EF4-FFF2-40B4-BE49-F238E27FC236}">
                <a16:creationId xmlns:a16="http://schemas.microsoft.com/office/drawing/2014/main" id="{DEE6944C-91DA-D19E-9383-5F4385E3A2DD}"/>
              </a:ext>
            </a:extLst>
          </p:cNvPr>
          <p:cNvPicPr>
            <a:picLocks noGrp="1" noChangeAspect="1"/>
          </p:cNvPicPr>
          <p:nvPr>
            <p:ph idx="1"/>
          </p:nvPr>
        </p:nvPicPr>
        <p:blipFill>
          <a:blip r:embed="rId3"/>
          <a:stretch>
            <a:fillRect/>
          </a:stretch>
        </p:blipFill>
        <p:spPr>
          <a:xfrm>
            <a:off x="3105809" y="2181225"/>
            <a:ext cx="5980382" cy="3678238"/>
          </a:xfrm>
        </p:spPr>
      </p:pic>
    </p:spTree>
    <p:extLst>
      <p:ext uri="{BB962C8B-B14F-4D97-AF65-F5344CB8AC3E}">
        <p14:creationId xmlns:p14="http://schemas.microsoft.com/office/powerpoint/2010/main" val="152022525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5FD5AB-49FE-0231-AAA7-25A331E6718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C86237E-4CCF-7D7A-BA04-E6F08AAF7A09}"/>
              </a:ext>
            </a:extLst>
          </p:cNvPr>
          <p:cNvSpPr>
            <a:spLocks noGrp="1"/>
          </p:cNvSpPr>
          <p:nvPr>
            <p:ph type="title"/>
          </p:nvPr>
        </p:nvSpPr>
        <p:spPr/>
        <p:txBody>
          <a:bodyPr/>
          <a:lstStyle/>
          <a:p>
            <a:r>
              <a:rPr lang="en-US" dirty="0"/>
              <a:t>Average Price by City</a:t>
            </a:r>
          </a:p>
        </p:txBody>
      </p:sp>
      <p:pic>
        <p:nvPicPr>
          <p:cNvPr id="7" name="Content Placeholder 6" descr="A graph of food prices&#10;&#10;AI-generated content may be incorrect.">
            <a:extLst>
              <a:ext uri="{FF2B5EF4-FFF2-40B4-BE49-F238E27FC236}">
                <a16:creationId xmlns:a16="http://schemas.microsoft.com/office/drawing/2014/main" id="{B894B046-1AC0-3255-8838-151243BE555D}"/>
              </a:ext>
            </a:extLst>
          </p:cNvPr>
          <p:cNvPicPr>
            <a:picLocks noGrp="1" noChangeAspect="1"/>
          </p:cNvPicPr>
          <p:nvPr>
            <p:ph idx="1"/>
          </p:nvPr>
        </p:nvPicPr>
        <p:blipFill>
          <a:blip r:embed="rId3"/>
          <a:stretch>
            <a:fillRect/>
          </a:stretch>
        </p:blipFill>
        <p:spPr>
          <a:xfrm>
            <a:off x="2984337" y="2181225"/>
            <a:ext cx="6223326" cy="3678238"/>
          </a:xfrm>
        </p:spPr>
      </p:pic>
    </p:spTree>
    <p:extLst>
      <p:ext uri="{BB962C8B-B14F-4D97-AF65-F5344CB8AC3E}">
        <p14:creationId xmlns:p14="http://schemas.microsoft.com/office/powerpoint/2010/main" val="291091156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C6EE6B-3339-5CAD-AA0E-2B47F00F9B4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FD17313-9626-07A0-B28B-72BADF3A1575}"/>
              </a:ext>
            </a:extLst>
          </p:cNvPr>
          <p:cNvSpPr>
            <a:spLocks noGrp="1"/>
          </p:cNvSpPr>
          <p:nvPr>
            <p:ph type="title"/>
          </p:nvPr>
        </p:nvSpPr>
        <p:spPr/>
        <p:txBody>
          <a:bodyPr/>
          <a:lstStyle/>
          <a:p>
            <a:r>
              <a:rPr lang="en-US" dirty="0"/>
              <a:t>Average Price by Category</a:t>
            </a:r>
          </a:p>
        </p:txBody>
      </p:sp>
      <p:pic>
        <p:nvPicPr>
          <p:cNvPr id="6" name="Content Placeholder 5" descr="A graph of food prices&#10;&#10;AI-generated content may be incorrect.">
            <a:extLst>
              <a:ext uri="{FF2B5EF4-FFF2-40B4-BE49-F238E27FC236}">
                <a16:creationId xmlns:a16="http://schemas.microsoft.com/office/drawing/2014/main" id="{4C426A3C-5502-1695-6223-493F19045091}"/>
              </a:ext>
            </a:extLst>
          </p:cNvPr>
          <p:cNvPicPr>
            <a:picLocks noGrp="1" noChangeAspect="1"/>
          </p:cNvPicPr>
          <p:nvPr>
            <p:ph idx="1"/>
          </p:nvPr>
        </p:nvPicPr>
        <p:blipFill>
          <a:blip r:embed="rId3"/>
          <a:stretch>
            <a:fillRect/>
          </a:stretch>
        </p:blipFill>
        <p:spPr>
          <a:xfrm>
            <a:off x="3094419" y="2181225"/>
            <a:ext cx="6003162" cy="3678238"/>
          </a:xfrm>
        </p:spPr>
      </p:pic>
    </p:spTree>
    <p:extLst>
      <p:ext uri="{BB962C8B-B14F-4D97-AF65-F5344CB8AC3E}">
        <p14:creationId xmlns:p14="http://schemas.microsoft.com/office/powerpoint/2010/main" val="311409340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4D6F85-37C1-4179-00FD-D5308018CFF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7917C44-6784-E698-34B3-E214FEEDDC8D}"/>
              </a:ext>
            </a:extLst>
          </p:cNvPr>
          <p:cNvSpPr>
            <a:spLocks noGrp="1"/>
          </p:cNvSpPr>
          <p:nvPr>
            <p:ph type="title"/>
          </p:nvPr>
        </p:nvSpPr>
        <p:spPr/>
        <p:txBody>
          <a:bodyPr/>
          <a:lstStyle/>
          <a:p>
            <a:r>
              <a:rPr lang="en-US" dirty="0"/>
              <a:t>Top and Bottom Priced Items</a:t>
            </a:r>
          </a:p>
        </p:txBody>
      </p:sp>
      <p:pic>
        <p:nvPicPr>
          <p:cNvPr id="7" name="Content Placeholder 6" descr="A graph of a number of different colored bars&#10;&#10;AI-generated content may be incorrect.">
            <a:extLst>
              <a:ext uri="{FF2B5EF4-FFF2-40B4-BE49-F238E27FC236}">
                <a16:creationId xmlns:a16="http://schemas.microsoft.com/office/drawing/2014/main" id="{E5F0B993-A3E5-56A3-82E2-11E2F3F9B39A}"/>
              </a:ext>
            </a:extLst>
          </p:cNvPr>
          <p:cNvPicPr>
            <a:picLocks noGrp="1" noChangeAspect="1"/>
          </p:cNvPicPr>
          <p:nvPr>
            <p:ph idx="1"/>
          </p:nvPr>
        </p:nvPicPr>
        <p:blipFill>
          <a:blip r:embed="rId3"/>
          <a:stretch>
            <a:fillRect/>
          </a:stretch>
        </p:blipFill>
        <p:spPr>
          <a:xfrm>
            <a:off x="3311163" y="2181225"/>
            <a:ext cx="5569673" cy="3678238"/>
          </a:xfrm>
        </p:spPr>
      </p:pic>
    </p:spTree>
    <p:extLst>
      <p:ext uri="{BB962C8B-B14F-4D97-AF65-F5344CB8AC3E}">
        <p14:creationId xmlns:p14="http://schemas.microsoft.com/office/powerpoint/2010/main" val="164457737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5457F0-F985-66BB-07B9-0396CF15676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A5AAF13-436A-41F6-4631-4E867485AAEE}"/>
              </a:ext>
            </a:extLst>
          </p:cNvPr>
          <p:cNvSpPr>
            <a:spLocks noGrp="1"/>
          </p:cNvSpPr>
          <p:nvPr>
            <p:ph type="title"/>
          </p:nvPr>
        </p:nvSpPr>
        <p:spPr/>
        <p:txBody>
          <a:bodyPr/>
          <a:lstStyle/>
          <a:p>
            <a:r>
              <a:rPr lang="en-US" dirty="0"/>
              <a:t>Price Variation by Category</a:t>
            </a:r>
          </a:p>
        </p:txBody>
      </p:sp>
      <p:pic>
        <p:nvPicPr>
          <p:cNvPr id="6" name="Content Placeholder 5" descr="A chart of different colored rectangular shapes&#10;&#10;AI-generated content may be incorrect.">
            <a:extLst>
              <a:ext uri="{FF2B5EF4-FFF2-40B4-BE49-F238E27FC236}">
                <a16:creationId xmlns:a16="http://schemas.microsoft.com/office/drawing/2014/main" id="{67A09195-7464-A27A-A704-E37F6E53F878}"/>
              </a:ext>
            </a:extLst>
          </p:cNvPr>
          <p:cNvPicPr>
            <a:picLocks noGrp="1" noChangeAspect="1"/>
          </p:cNvPicPr>
          <p:nvPr>
            <p:ph idx="1"/>
          </p:nvPr>
        </p:nvPicPr>
        <p:blipFill>
          <a:blip r:embed="rId3"/>
          <a:stretch>
            <a:fillRect/>
          </a:stretch>
        </p:blipFill>
        <p:spPr>
          <a:xfrm>
            <a:off x="2984337" y="2181225"/>
            <a:ext cx="6223326" cy="3678238"/>
          </a:xfrm>
        </p:spPr>
      </p:pic>
    </p:spTree>
    <p:extLst>
      <p:ext uri="{BB962C8B-B14F-4D97-AF65-F5344CB8AC3E}">
        <p14:creationId xmlns:p14="http://schemas.microsoft.com/office/powerpoint/2010/main" val="380727723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F99867-BB92-3F3C-9723-0BD889A20161}"/>
              </a:ext>
            </a:extLst>
          </p:cNvPr>
          <p:cNvSpPr>
            <a:spLocks noGrp="1"/>
          </p:cNvSpPr>
          <p:nvPr>
            <p:ph type="title"/>
          </p:nvPr>
        </p:nvSpPr>
        <p:spPr/>
        <p:txBody>
          <a:bodyPr/>
          <a:lstStyle/>
          <a:p>
            <a:r>
              <a:rPr lang="en-US" dirty="0"/>
              <a:t>Correlation Findings</a:t>
            </a:r>
          </a:p>
        </p:txBody>
      </p:sp>
      <p:pic>
        <p:nvPicPr>
          <p:cNvPr id="6" name="Content Placeholder 5" descr="A screenshot of a graph&#10;&#10;AI-generated content may be incorrect.">
            <a:extLst>
              <a:ext uri="{FF2B5EF4-FFF2-40B4-BE49-F238E27FC236}">
                <a16:creationId xmlns:a16="http://schemas.microsoft.com/office/drawing/2014/main" id="{11475FDA-781A-00C7-ED3B-2EF06A56EAAA}"/>
              </a:ext>
            </a:extLst>
          </p:cNvPr>
          <p:cNvPicPr>
            <a:picLocks noGrp="1" noChangeAspect="1"/>
          </p:cNvPicPr>
          <p:nvPr>
            <p:ph sz="half" idx="1"/>
          </p:nvPr>
        </p:nvPicPr>
        <p:blipFill>
          <a:blip r:embed="rId3"/>
          <a:stretch>
            <a:fillRect/>
          </a:stretch>
        </p:blipFill>
        <p:spPr>
          <a:xfrm>
            <a:off x="605957" y="2227263"/>
            <a:ext cx="5373035" cy="3633787"/>
          </a:xfrm>
        </p:spPr>
      </p:pic>
      <p:sp>
        <p:nvSpPr>
          <p:cNvPr id="4" name="Content Placeholder 3">
            <a:extLst>
              <a:ext uri="{FF2B5EF4-FFF2-40B4-BE49-F238E27FC236}">
                <a16:creationId xmlns:a16="http://schemas.microsoft.com/office/drawing/2014/main" id="{EB9CF85F-76D0-032F-BA46-65D14C4B7297}"/>
              </a:ext>
            </a:extLst>
          </p:cNvPr>
          <p:cNvSpPr>
            <a:spLocks noGrp="1"/>
          </p:cNvSpPr>
          <p:nvPr>
            <p:ph sz="half" idx="2"/>
          </p:nvPr>
        </p:nvSpPr>
        <p:spPr/>
        <p:txBody>
          <a:bodyPr/>
          <a:lstStyle/>
          <a:p>
            <a:r>
              <a:rPr lang="en-US" dirty="0"/>
              <a:t>Weak correlations among categorical fields</a:t>
            </a:r>
          </a:p>
          <a:p>
            <a:r>
              <a:rPr lang="en-US" dirty="0"/>
              <a:t>Item and category encode price level more than city or month</a:t>
            </a:r>
          </a:p>
          <a:p>
            <a:r>
              <a:rPr lang="en-US" dirty="0"/>
              <a:t>Price is primarily item-dependent</a:t>
            </a:r>
          </a:p>
        </p:txBody>
      </p:sp>
    </p:spTree>
    <p:extLst>
      <p:ext uri="{BB962C8B-B14F-4D97-AF65-F5344CB8AC3E}">
        <p14:creationId xmlns:p14="http://schemas.microsoft.com/office/powerpoint/2010/main" val="361668238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F8B1F3-919F-3558-4CCC-ABB3AEF7164E}"/>
              </a:ext>
            </a:extLst>
          </p:cNvPr>
          <p:cNvSpPr>
            <a:spLocks noGrp="1"/>
          </p:cNvSpPr>
          <p:nvPr>
            <p:ph type="title"/>
          </p:nvPr>
        </p:nvSpPr>
        <p:spPr/>
        <p:txBody>
          <a:bodyPr/>
          <a:lstStyle/>
          <a:p>
            <a:r>
              <a:rPr lang="en-US" dirty="0"/>
              <a:t>Predictive Modeling</a:t>
            </a:r>
          </a:p>
        </p:txBody>
      </p:sp>
      <p:sp>
        <p:nvSpPr>
          <p:cNvPr id="3" name="Content Placeholder 2">
            <a:extLst>
              <a:ext uri="{FF2B5EF4-FFF2-40B4-BE49-F238E27FC236}">
                <a16:creationId xmlns:a16="http://schemas.microsoft.com/office/drawing/2014/main" id="{16D2BC3E-E023-C7E5-BAC0-9A66BBD5A573}"/>
              </a:ext>
            </a:extLst>
          </p:cNvPr>
          <p:cNvSpPr>
            <a:spLocks noGrp="1"/>
          </p:cNvSpPr>
          <p:nvPr>
            <p:ph idx="1"/>
          </p:nvPr>
        </p:nvSpPr>
        <p:spPr/>
        <p:txBody>
          <a:bodyPr/>
          <a:lstStyle/>
          <a:p>
            <a:r>
              <a:rPr lang="en-US" dirty="0"/>
              <a:t>Linear Regression</a:t>
            </a:r>
          </a:p>
          <a:p>
            <a:pPr lvl="1"/>
            <a:r>
              <a:rPr lang="en-US" dirty="0"/>
              <a:t>RMSE = 37</a:t>
            </a:r>
          </a:p>
          <a:p>
            <a:pPr lvl="1"/>
            <a:r>
              <a:rPr lang="en-US" dirty="0"/>
              <a:t>R^2 = 0.989</a:t>
            </a:r>
          </a:p>
          <a:p>
            <a:r>
              <a:rPr lang="en-US" dirty="0"/>
              <a:t>Random Forest</a:t>
            </a:r>
          </a:p>
          <a:p>
            <a:pPr lvl="1"/>
            <a:r>
              <a:rPr lang="en-US" dirty="0"/>
              <a:t>RMSE = 16</a:t>
            </a:r>
          </a:p>
          <a:p>
            <a:pPr lvl="1"/>
            <a:r>
              <a:rPr lang="en-US" dirty="0"/>
              <a:t>R^2 = 0.998</a:t>
            </a:r>
          </a:p>
          <a:p>
            <a:r>
              <a:rPr lang="en-US" dirty="0"/>
              <a:t>Feature importance dominated by meat, ghee, cheese, spices, tea</a:t>
            </a:r>
          </a:p>
        </p:txBody>
      </p:sp>
      <p:sp>
        <p:nvSpPr>
          <p:cNvPr id="4" name="Rectangle 1">
            <a:extLst>
              <a:ext uri="{FF2B5EF4-FFF2-40B4-BE49-F238E27FC236}">
                <a16:creationId xmlns:a16="http://schemas.microsoft.com/office/drawing/2014/main" id="{38BA0899-7A05-06D7-13FA-E9210BA44B07}"/>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a:ln>
                  <a:noFill/>
                </a:ln>
                <a:solidFill>
                  <a:srgbClr val="000000"/>
                </a:solidFill>
                <a:effectLst/>
                <a:latin typeface="-webkit-standard"/>
              </a:rPr>
              <a:t>²</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5" name="Rectangle 2">
            <a:extLst>
              <a:ext uri="{FF2B5EF4-FFF2-40B4-BE49-F238E27FC236}">
                <a16:creationId xmlns:a16="http://schemas.microsoft.com/office/drawing/2014/main" id="{76422A05-D844-AF9F-E195-4FA56F2FC063}"/>
              </a:ext>
            </a:extLst>
          </p:cNvPr>
          <p:cNvSpPr>
            <a:spLocks noChangeArrowheads="1"/>
          </p:cNvSpPr>
          <p:nvPr/>
        </p:nvSpPr>
        <p:spPr bwMode="auto">
          <a:xfrm>
            <a:off x="152400" y="15240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a:ln>
                  <a:noFill/>
                </a:ln>
                <a:solidFill>
                  <a:srgbClr val="000000"/>
                </a:solidFill>
                <a:effectLst/>
                <a:latin typeface="-webkit-standard"/>
              </a:rPr>
              <a:t>²</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92218623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A1F498-E0DA-6A6E-0D67-4C68E5CEA7A8}"/>
              </a:ext>
            </a:extLst>
          </p:cNvPr>
          <p:cNvSpPr>
            <a:spLocks noGrp="1"/>
          </p:cNvSpPr>
          <p:nvPr>
            <p:ph type="title"/>
          </p:nvPr>
        </p:nvSpPr>
        <p:spPr/>
        <p:txBody>
          <a:bodyPr/>
          <a:lstStyle/>
          <a:p>
            <a:r>
              <a:rPr lang="en-US" dirty="0"/>
              <a:t>City Clustering (K-Means + PCA)</a:t>
            </a:r>
          </a:p>
        </p:txBody>
      </p:sp>
      <p:pic>
        <p:nvPicPr>
          <p:cNvPr id="6" name="Content Placeholder 5" descr="A graph with different colored dots&#10;&#10;AI-generated content may be incorrect.">
            <a:extLst>
              <a:ext uri="{FF2B5EF4-FFF2-40B4-BE49-F238E27FC236}">
                <a16:creationId xmlns:a16="http://schemas.microsoft.com/office/drawing/2014/main" id="{BB08B256-2B7E-A132-056E-7CC5A72EEE29}"/>
              </a:ext>
            </a:extLst>
          </p:cNvPr>
          <p:cNvPicPr>
            <a:picLocks noGrp="1" noChangeAspect="1"/>
          </p:cNvPicPr>
          <p:nvPr>
            <p:ph sz="half" idx="1"/>
          </p:nvPr>
        </p:nvPicPr>
        <p:blipFill>
          <a:blip r:embed="rId3"/>
          <a:stretch>
            <a:fillRect/>
          </a:stretch>
        </p:blipFill>
        <p:spPr>
          <a:xfrm>
            <a:off x="777894" y="2227263"/>
            <a:ext cx="5029161" cy="3633787"/>
          </a:xfrm>
        </p:spPr>
      </p:pic>
      <p:sp>
        <p:nvSpPr>
          <p:cNvPr id="4" name="Content Placeholder 3">
            <a:extLst>
              <a:ext uri="{FF2B5EF4-FFF2-40B4-BE49-F238E27FC236}">
                <a16:creationId xmlns:a16="http://schemas.microsoft.com/office/drawing/2014/main" id="{CF984E7E-3BBF-F086-528E-B3282A13FADA}"/>
              </a:ext>
            </a:extLst>
          </p:cNvPr>
          <p:cNvSpPr>
            <a:spLocks noGrp="1"/>
          </p:cNvSpPr>
          <p:nvPr>
            <p:ph sz="half" idx="2"/>
          </p:nvPr>
        </p:nvSpPr>
        <p:spPr/>
        <p:txBody>
          <a:bodyPr/>
          <a:lstStyle/>
          <a:p>
            <a:r>
              <a:rPr lang="en-US" dirty="0"/>
              <a:t>Cluster 0: Lowest-cost cities</a:t>
            </a:r>
          </a:p>
          <a:p>
            <a:r>
              <a:rPr lang="en-US" dirty="0"/>
              <a:t>Cluster 1: Moderate-to-high price cities</a:t>
            </a:r>
          </a:p>
          <a:p>
            <a:r>
              <a:rPr lang="en-US" dirty="0"/>
              <a:t>Cluster 2: Mixed-price urban centers</a:t>
            </a:r>
          </a:p>
          <a:p>
            <a:r>
              <a:rPr lang="en-US" dirty="0"/>
              <a:t>Cluster 3: High-cost outlier (Peshawar)</a:t>
            </a:r>
          </a:p>
        </p:txBody>
      </p:sp>
    </p:spTree>
    <p:extLst>
      <p:ext uri="{BB962C8B-B14F-4D97-AF65-F5344CB8AC3E}">
        <p14:creationId xmlns:p14="http://schemas.microsoft.com/office/powerpoint/2010/main" val="409829672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7C47EE-2183-464C-DD71-0297F63C3A0A}"/>
              </a:ext>
            </a:extLst>
          </p:cNvPr>
          <p:cNvSpPr>
            <a:spLocks noGrp="1"/>
          </p:cNvSpPr>
          <p:nvPr>
            <p:ph type="title"/>
          </p:nvPr>
        </p:nvSpPr>
        <p:spPr/>
        <p:txBody>
          <a:bodyPr/>
          <a:lstStyle/>
          <a:p>
            <a:r>
              <a:rPr lang="en-US" dirty="0"/>
              <a:t>City Heatmap</a:t>
            </a:r>
          </a:p>
        </p:txBody>
      </p:sp>
      <p:pic>
        <p:nvPicPr>
          <p:cNvPr id="7" name="Content Placeholder 6" descr="A chart of different colored lines&#10;&#10;AI-generated content may be incorrect.">
            <a:extLst>
              <a:ext uri="{FF2B5EF4-FFF2-40B4-BE49-F238E27FC236}">
                <a16:creationId xmlns:a16="http://schemas.microsoft.com/office/drawing/2014/main" id="{1EC1424D-5CC5-BA87-C41F-1E8B60ACB9C3}"/>
              </a:ext>
            </a:extLst>
          </p:cNvPr>
          <p:cNvPicPr>
            <a:picLocks noGrp="1" noChangeAspect="1"/>
          </p:cNvPicPr>
          <p:nvPr>
            <p:ph idx="1"/>
          </p:nvPr>
        </p:nvPicPr>
        <p:blipFill>
          <a:blip r:embed="rId3"/>
          <a:stretch>
            <a:fillRect/>
          </a:stretch>
        </p:blipFill>
        <p:spPr>
          <a:xfrm>
            <a:off x="3931595" y="2181225"/>
            <a:ext cx="4328810" cy="3678238"/>
          </a:xfrm>
        </p:spPr>
      </p:pic>
    </p:spTree>
    <p:extLst>
      <p:ext uri="{BB962C8B-B14F-4D97-AF65-F5344CB8AC3E}">
        <p14:creationId xmlns:p14="http://schemas.microsoft.com/office/powerpoint/2010/main" val="288145826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692F9A-9F94-281B-5047-710C025C990B}"/>
              </a:ext>
            </a:extLst>
          </p:cNvPr>
          <p:cNvSpPr>
            <a:spLocks noGrp="1"/>
          </p:cNvSpPr>
          <p:nvPr>
            <p:ph type="title"/>
          </p:nvPr>
        </p:nvSpPr>
        <p:spPr/>
        <p:txBody>
          <a:bodyPr/>
          <a:lstStyle/>
          <a:p>
            <a:r>
              <a:rPr lang="en-US" dirty="0"/>
              <a:t>Radar Chart: Cluster Profiles</a:t>
            </a:r>
          </a:p>
        </p:txBody>
      </p:sp>
      <p:pic>
        <p:nvPicPr>
          <p:cNvPr id="5" name="Content Placeholder 4" descr="A diagram of a cluster of food&#10;&#10;AI-generated content may be incorrect.">
            <a:extLst>
              <a:ext uri="{FF2B5EF4-FFF2-40B4-BE49-F238E27FC236}">
                <a16:creationId xmlns:a16="http://schemas.microsoft.com/office/drawing/2014/main" id="{59BF975D-0D92-D02B-D2CE-DE9261428F80}"/>
              </a:ext>
            </a:extLst>
          </p:cNvPr>
          <p:cNvPicPr>
            <a:picLocks noGrp="1" noChangeAspect="1"/>
          </p:cNvPicPr>
          <p:nvPr>
            <p:ph idx="1"/>
          </p:nvPr>
        </p:nvPicPr>
        <p:blipFill>
          <a:blip r:embed="rId3"/>
          <a:stretch>
            <a:fillRect/>
          </a:stretch>
        </p:blipFill>
        <p:spPr>
          <a:xfrm>
            <a:off x="4087834" y="2181225"/>
            <a:ext cx="4016332" cy="3678238"/>
          </a:xfrm>
        </p:spPr>
      </p:pic>
    </p:spTree>
    <p:extLst>
      <p:ext uri="{BB962C8B-B14F-4D97-AF65-F5344CB8AC3E}">
        <p14:creationId xmlns:p14="http://schemas.microsoft.com/office/powerpoint/2010/main" val="287927296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00FBBB-3270-C573-AB75-386C1A51E835}"/>
              </a:ext>
            </a:extLst>
          </p:cNvPr>
          <p:cNvSpPr>
            <a:spLocks noGrp="1"/>
          </p:cNvSpPr>
          <p:nvPr>
            <p:ph type="title"/>
          </p:nvPr>
        </p:nvSpPr>
        <p:spPr/>
        <p:txBody>
          <a:bodyPr/>
          <a:lstStyle/>
          <a:p>
            <a:r>
              <a:rPr lang="en-US" dirty="0"/>
              <a:t>Conclusion</a:t>
            </a:r>
          </a:p>
        </p:txBody>
      </p:sp>
      <p:sp>
        <p:nvSpPr>
          <p:cNvPr id="3" name="Content Placeholder 2">
            <a:extLst>
              <a:ext uri="{FF2B5EF4-FFF2-40B4-BE49-F238E27FC236}">
                <a16:creationId xmlns:a16="http://schemas.microsoft.com/office/drawing/2014/main" id="{66B354B5-A5E3-A2BB-1129-B53CD745D838}"/>
              </a:ext>
            </a:extLst>
          </p:cNvPr>
          <p:cNvSpPr>
            <a:spLocks noGrp="1"/>
          </p:cNvSpPr>
          <p:nvPr>
            <p:ph idx="1"/>
          </p:nvPr>
        </p:nvSpPr>
        <p:spPr/>
        <p:txBody>
          <a:bodyPr/>
          <a:lstStyle/>
          <a:p>
            <a:r>
              <a:rPr lang="en-US" dirty="0"/>
              <a:t>Prices vary widely by category and item</a:t>
            </a:r>
          </a:p>
          <a:p>
            <a:r>
              <a:rPr lang="en-US" dirty="0"/>
              <a:t>Cities differ significantly, enabling meaningful segmentation</a:t>
            </a:r>
          </a:p>
          <a:p>
            <a:r>
              <a:rPr lang="en-US" dirty="0"/>
              <a:t>Predictive modeling shows item type is the strongest driver of price</a:t>
            </a:r>
          </a:p>
          <a:p>
            <a:r>
              <a:rPr lang="en-US" dirty="0"/>
              <a:t>Clustering reveals four distinct market groups</a:t>
            </a:r>
          </a:p>
        </p:txBody>
      </p:sp>
    </p:spTree>
    <p:extLst>
      <p:ext uri="{BB962C8B-B14F-4D97-AF65-F5344CB8AC3E}">
        <p14:creationId xmlns:p14="http://schemas.microsoft.com/office/powerpoint/2010/main" val="346367883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8ED72D-30A9-DF3B-02F4-C421C395BF1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5BD2559-67DD-7A81-9176-73BD3027564D}"/>
              </a:ext>
            </a:extLst>
          </p:cNvPr>
          <p:cNvSpPr>
            <a:spLocks noGrp="1"/>
          </p:cNvSpPr>
          <p:nvPr>
            <p:ph type="title"/>
          </p:nvPr>
        </p:nvSpPr>
        <p:spPr/>
        <p:txBody>
          <a:bodyPr/>
          <a:lstStyle/>
          <a:p>
            <a:r>
              <a:rPr lang="en-US" dirty="0"/>
              <a:t>Recommendations</a:t>
            </a:r>
          </a:p>
        </p:txBody>
      </p:sp>
      <p:sp>
        <p:nvSpPr>
          <p:cNvPr id="3" name="Content Placeholder 2">
            <a:extLst>
              <a:ext uri="{FF2B5EF4-FFF2-40B4-BE49-F238E27FC236}">
                <a16:creationId xmlns:a16="http://schemas.microsoft.com/office/drawing/2014/main" id="{45F58966-726A-D16B-746B-C81A724C508F}"/>
              </a:ext>
            </a:extLst>
          </p:cNvPr>
          <p:cNvSpPr>
            <a:spLocks noGrp="1"/>
          </p:cNvSpPr>
          <p:nvPr>
            <p:ph idx="1"/>
          </p:nvPr>
        </p:nvSpPr>
        <p:spPr/>
        <p:txBody>
          <a:bodyPr/>
          <a:lstStyle/>
          <a:p>
            <a:r>
              <a:rPr lang="en-US" dirty="0"/>
              <a:t>Use clusters for targeted policy-making</a:t>
            </a:r>
          </a:p>
          <a:p>
            <a:r>
              <a:rPr lang="en-US" dirty="0"/>
              <a:t>Monitor high-cost categories (meat, oil, beverages)</a:t>
            </a:r>
          </a:p>
          <a:p>
            <a:r>
              <a:rPr lang="en-US" dirty="0"/>
              <a:t>Improve price transparency in higher-cost cities</a:t>
            </a:r>
          </a:p>
          <a:p>
            <a:r>
              <a:rPr lang="en-US" dirty="0"/>
              <a:t>Expand dataset to include wholesale vs retail comparisons</a:t>
            </a:r>
          </a:p>
        </p:txBody>
      </p:sp>
    </p:spTree>
    <p:extLst>
      <p:ext uri="{BB962C8B-B14F-4D97-AF65-F5344CB8AC3E}">
        <p14:creationId xmlns:p14="http://schemas.microsoft.com/office/powerpoint/2010/main" val="70499591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91F28B-79C0-449F-D2DD-519F5110D9E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3CB8EC5-84EC-EC68-2210-7AAABA28EEE3}"/>
              </a:ext>
            </a:extLst>
          </p:cNvPr>
          <p:cNvSpPr>
            <a:spLocks noGrp="1"/>
          </p:cNvSpPr>
          <p:nvPr>
            <p:ph type="title"/>
          </p:nvPr>
        </p:nvSpPr>
        <p:spPr/>
        <p:txBody>
          <a:bodyPr/>
          <a:lstStyle/>
          <a:p>
            <a:r>
              <a:rPr lang="en-US" dirty="0"/>
              <a:t>Future Applications</a:t>
            </a:r>
          </a:p>
        </p:txBody>
      </p:sp>
      <p:sp>
        <p:nvSpPr>
          <p:cNvPr id="3" name="Content Placeholder 2">
            <a:extLst>
              <a:ext uri="{FF2B5EF4-FFF2-40B4-BE49-F238E27FC236}">
                <a16:creationId xmlns:a16="http://schemas.microsoft.com/office/drawing/2014/main" id="{92B6D8A3-A421-E37E-1D7F-DA667A88DDF9}"/>
              </a:ext>
            </a:extLst>
          </p:cNvPr>
          <p:cNvSpPr>
            <a:spLocks noGrp="1"/>
          </p:cNvSpPr>
          <p:nvPr>
            <p:ph idx="1"/>
          </p:nvPr>
        </p:nvSpPr>
        <p:spPr/>
        <p:txBody>
          <a:bodyPr/>
          <a:lstStyle/>
          <a:p>
            <a:r>
              <a:rPr lang="en-US" dirty="0"/>
              <a:t>Forecasting future price trends</a:t>
            </a:r>
          </a:p>
          <a:p>
            <a:r>
              <a:rPr lang="en-US" dirty="0"/>
              <a:t>Expanding data to more cities and years</a:t>
            </a:r>
          </a:p>
          <a:p>
            <a:r>
              <a:rPr lang="en-US" dirty="0"/>
              <a:t>Integrated dashboards for policymakers</a:t>
            </a:r>
          </a:p>
        </p:txBody>
      </p:sp>
    </p:spTree>
    <p:extLst>
      <p:ext uri="{BB962C8B-B14F-4D97-AF65-F5344CB8AC3E}">
        <p14:creationId xmlns:p14="http://schemas.microsoft.com/office/powerpoint/2010/main" val="236809706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5A4EE7-103F-CC76-FEC8-913580B8D3C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D07053C-2176-2223-9E9B-71CE6DEB9969}"/>
              </a:ext>
            </a:extLst>
          </p:cNvPr>
          <p:cNvSpPr>
            <a:spLocks noGrp="1"/>
          </p:cNvSpPr>
          <p:nvPr>
            <p:ph type="title"/>
          </p:nvPr>
        </p:nvSpPr>
        <p:spPr/>
        <p:txBody>
          <a:bodyPr/>
          <a:lstStyle/>
          <a:p>
            <a:r>
              <a:rPr lang="en-US" dirty="0"/>
              <a:t>Ethical Assessment</a:t>
            </a:r>
          </a:p>
        </p:txBody>
      </p:sp>
      <p:sp>
        <p:nvSpPr>
          <p:cNvPr id="3" name="Content Placeholder 2">
            <a:extLst>
              <a:ext uri="{FF2B5EF4-FFF2-40B4-BE49-F238E27FC236}">
                <a16:creationId xmlns:a16="http://schemas.microsoft.com/office/drawing/2014/main" id="{F80939CF-2260-36FC-41FD-ED1B363E9326}"/>
              </a:ext>
            </a:extLst>
          </p:cNvPr>
          <p:cNvSpPr>
            <a:spLocks noGrp="1"/>
          </p:cNvSpPr>
          <p:nvPr>
            <p:ph idx="1"/>
          </p:nvPr>
        </p:nvSpPr>
        <p:spPr/>
        <p:txBody>
          <a:bodyPr/>
          <a:lstStyle/>
          <a:p>
            <a:r>
              <a:rPr lang="en-US" dirty="0"/>
              <a:t>Avoid misuse of clustering for discriminatory practices</a:t>
            </a:r>
          </a:p>
          <a:p>
            <a:r>
              <a:rPr lang="en-US" dirty="0"/>
              <a:t>Ensure transparency in modeling</a:t>
            </a:r>
          </a:p>
          <a:p>
            <a:r>
              <a:rPr lang="en-US" dirty="0"/>
              <a:t>Use data to support vulnerable populations</a:t>
            </a:r>
          </a:p>
        </p:txBody>
      </p:sp>
    </p:spTree>
    <p:extLst>
      <p:ext uri="{BB962C8B-B14F-4D97-AF65-F5344CB8AC3E}">
        <p14:creationId xmlns:p14="http://schemas.microsoft.com/office/powerpoint/2010/main" val="373810187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9462DD-A3A2-69E1-7B5E-54ADAE5C809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3FD6E9F-17EE-5428-3071-4548B795A7F3}"/>
              </a:ext>
            </a:extLst>
          </p:cNvPr>
          <p:cNvSpPr>
            <a:spLocks noGrp="1"/>
          </p:cNvSpPr>
          <p:nvPr>
            <p:ph type="ctrTitle"/>
          </p:nvPr>
        </p:nvSpPr>
        <p:spPr/>
        <p:txBody>
          <a:bodyPr/>
          <a:lstStyle/>
          <a:p>
            <a:r>
              <a:rPr lang="en-US" dirty="0"/>
              <a:t>Questions</a:t>
            </a:r>
          </a:p>
        </p:txBody>
      </p:sp>
      <p:sp>
        <p:nvSpPr>
          <p:cNvPr id="3" name="Content Placeholder 2">
            <a:extLst>
              <a:ext uri="{FF2B5EF4-FFF2-40B4-BE49-F238E27FC236}">
                <a16:creationId xmlns:a16="http://schemas.microsoft.com/office/drawing/2014/main" id="{0D428ECB-14FA-63AC-D3F9-590E1C4839B4}"/>
              </a:ext>
            </a:extLst>
          </p:cNvPr>
          <p:cNvSpPr>
            <a:spLocks noGrp="1"/>
          </p:cNvSpPr>
          <p:nvPr>
            <p:ph type="subTitle" idx="1"/>
          </p:nvPr>
        </p:nvSpPr>
        <p:spPr/>
        <p:txBody>
          <a:bodyPr>
            <a:normAutofit/>
          </a:bodyPr>
          <a:lstStyle/>
          <a:p>
            <a:endParaRPr lang="en-US" dirty="0"/>
          </a:p>
        </p:txBody>
      </p:sp>
    </p:spTree>
    <p:extLst>
      <p:ext uri="{BB962C8B-B14F-4D97-AF65-F5344CB8AC3E}">
        <p14:creationId xmlns:p14="http://schemas.microsoft.com/office/powerpoint/2010/main" val="3718867831"/>
      </p:ext>
    </p:extLst>
  </p:cSld>
  <p:clrMapOvr>
    <a:masterClrMapping/>
  </p:clrMapOvr>
</p:sld>
</file>

<file path=ppt/theme/theme1.xml><?xml version="1.0" encoding="utf-8"?>
<a:theme xmlns:a="http://schemas.openxmlformats.org/drawingml/2006/main" name="Dividend">
  <a:themeElements>
    <a:clrScheme name="Dividend">
      <a:dk1>
        <a:sysClr val="windowText" lastClr="000000"/>
      </a:dk1>
      <a:lt1>
        <a:sysClr val="window" lastClr="FFFFFF"/>
      </a:lt1>
      <a:dk2>
        <a:srgbClr val="3D3D3D"/>
      </a:dk2>
      <a:lt2>
        <a:srgbClr val="EBEBEB"/>
      </a:lt2>
      <a:accent1>
        <a:srgbClr val="4D1434"/>
      </a:accent1>
      <a:accent2>
        <a:srgbClr val="903163"/>
      </a:accent2>
      <a:accent3>
        <a:srgbClr val="B2324B"/>
      </a:accent3>
      <a:accent4>
        <a:srgbClr val="969FA7"/>
      </a:accent4>
      <a:accent5>
        <a:srgbClr val="66B1CE"/>
      </a:accent5>
      <a:accent6>
        <a:srgbClr val="40619D"/>
      </a:accent6>
      <a:hlink>
        <a:srgbClr val="828282"/>
      </a:hlink>
      <a:folHlink>
        <a:srgbClr val="A5A5A5"/>
      </a:folHlink>
    </a:clrScheme>
    <a:fontScheme name="Dividend">
      <a:maj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Dividend">
      <a:fillStyleLst>
        <a:solidFill>
          <a:schemeClr val="phClr"/>
        </a:solidFill>
        <a:gradFill rotWithShape="1">
          <a:gsLst>
            <a:gs pos="0">
              <a:schemeClr val="phClr">
                <a:tint val="68000"/>
                <a:alpha val="90000"/>
                <a:lumMod val="100000"/>
              </a:schemeClr>
            </a:gs>
            <a:gs pos="100000">
              <a:schemeClr val="phClr">
                <a:tint val="90000"/>
                <a:lumMod val="95000"/>
              </a:schemeClr>
            </a:gs>
          </a:gsLst>
          <a:lin ang="5400000" scaled="1"/>
        </a:gradFill>
        <a:gradFill rotWithShape="1">
          <a:gsLst>
            <a:gs pos="0">
              <a:schemeClr val="phClr">
                <a:tint val="98000"/>
                <a:lumMod val="110000"/>
              </a:schemeClr>
            </a:gs>
            <a:gs pos="84000">
              <a:schemeClr val="phClr">
                <a:shade val="90000"/>
                <a:lumMod val="88000"/>
              </a:schemeClr>
            </a:gs>
          </a:gsLst>
          <a:lin ang="5400000" scaled="0"/>
        </a:gradFill>
      </a:fillStyleLst>
      <a:lnStyleLst>
        <a:ln w="12700" cap="rnd" cmpd="sng" algn="ctr">
          <a:solidFill>
            <a:schemeClr val="phClr">
              <a:lumMod val="90000"/>
            </a:schemeClr>
          </a:solidFill>
          <a:prstDash val="solid"/>
        </a:ln>
        <a:ln w="22225"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55000"/>
              </a:srgbClr>
            </a:outerShdw>
          </a:effectLst>
        </a:effectStyle>
        <a:effectStyle>
          <a:effectLst>
            <a:outerShdw blurRad="88900" dist="38100" dir="5040000" rotWithShape="0">
              <a:srgbClr val="000000">
                <a:alpha val="60000"/>
              </a:srgbClr>
            </a:outerShdw>
          </a:effectLst>
          <a:scene3d>
            <a:camera prst="orthographicFront">
              <a:rot lat="0" lon="0" rev="0"/>
            </a:camera>
            <a:lightRig rig="threePt" dir="tl">
              <a:rot lat="0" lon="0" rev="1200000"/>
            </a:lightRig>
          </a:scene3d>
          <a:sp3d>
            <a:bevelT w="38100" h="50800"/>
          </a:sp3d>
        </a:effectStyle>
      </a:effectStyleLst>
      <a:bgFillStyleLst>
        <a:solidFill>
          <a:schemeClr val="phClr"/>
        </a:solidFill>
        <a:gradFill rotWithShape="1">
          <a:gsLst>
            <a:gs pos="0">
              <a:schemeClr val="phClr">
                <a:tint val="90000"/>
                <a:lumMod val="110000"/>
              </a:schemeClr>
            </a:gs>
            <a:gs pos="88000">
              <a:schemeClr val="phClr">
                <a:shade val="94000"/>
                <a:satMod val="110000"/>
                <a:lumMod val="88000"/>
              </a:schemeClr>
            </a:gs>
          </a:gsLst>
          <a:lin ang="5400000" scaled="0"/>
        </a:gradFill>
        <a:gradFill rotWithShape="1">
          <a:gsLst>
            <a:gs pos="0">
              <a:schemeClr val="phClr">
                <a:tint val="90000"/>
                <a:lumMod val="110000"/>
              </a:schemeClr>
            </a:gs>
            <a:gs pos="100000">
              <a:schemeClr val="phClr">
                <a:shade val="98000"/>
                <a:satMod val="110000"/>
                <a:lumMod val="8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Dividend" id="{9697A71B-4AB7-4A1A-BD5B-BB2D22835B57}" vid="{C21699FF-00E4-43C8-BBCC-D7E5536C3717}"/>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Dividend</Template>
  <TotalTime>31</TotalTime>
  <Words>1334</Words>
  <Application>Microsoft Macintosh PowerPoint</Application>
  <PresentationFormat>Widescreen</PresentationFormat>
  <Paragraphs>112</Paragraphs>
  <Slides>20</Slides>
  <Notes>20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20</vt:i4>
      </vt:variant>
    </vt:vector>
  </HeadingPairs>
  <TitlesOfParts>
    <vt:vector size="26" baseType="lpstr">
      <vt:lpstr>-webkit-standard</vt:lpstr>
      <vt:lpstr>Aptos</vt:lpstr>
      <vt:lpstr>Arial</vt:lpstr>
      <vt:lpstr>Gill Sans MT</vt:lpstr>
      <vt:lpstr>Wingdings 2</vt:lpstr>
      <vt:lpstr>Dividend</vt:lpstr>
      <vt:lpstr>Food Price Analysis and Market Segmentation Across Pakistani Cities</vt:lpstr>
      <vt:lpstr>Business Problem</vt:lpstr>
      <vt:lpstr>Background and History</vt:lpstr>
      <vt:lpstr>Dataset Overview</vt:lpstr>
      <vt:lpstr>Data Preparation</vt:lpstr>
      <vt:lpstr>Distribution of Food Prices</vt:lpstr>
      <vt:lpstr>Average Price by City</vt:lpstr>
      <vt:lpstr>Average Price by Category</vt:lpstr>
      <vt:lpstr>Top and Bottom Priced Items</vt:lpstr>
      <vt:lpstr>Price Variation by Category</vt:lpstr>
      <vt:lpstr>Correlation Findings</vt:lpstr>
      <vt:lpstr>Predictive Modeling</vt:lpstr>
      <vt:lpstr>City Clustering (K-Means + PCA)</vt:lpstr>
      <vt:lpstr>City Heatmap</vt:lpstr>
      <vt:lpstr>Radar Chart: Cluster Profiles</vt:lpstr>
      <vt:lpstr>Conclusion</vt:lpstr>
      <vt:lpstr>Recommendations</vt:lpstr>
      <vt:lpstr>Future Applications</vt:lpstr>
      <vt:lpstr>Ethical Assessment</vt:lpstr>
      <vt:lpstr>Questions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Emily Picinich</dc:creator>
  <cp:lastModifiedBy>Emily Picinich</cp:lastModifiedBy>
  <cp:revision>1</cp:revision>
  <dcterms:created xsi:type="dcterms:W3CDTF">2025-11-18T16:57:09Z</dcterms:created>
  <dcterms:modified xsi:type="dcterms:W3CDTF">2025-11-18T17:29:00Z</dcterms:modified>
</cp:coreProperties>
</file>