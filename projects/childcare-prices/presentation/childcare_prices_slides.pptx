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1"/>
  </p:notesMasterIdLst>
  <p:handoutMasterIdLst>
    <p:handoutMasterId r:id="rId22"/>
  </p:handoutMasterIdLst>
  <p:sldIdLst>
    <p:sldId id="256" r:id="rId2"/>
    <p:sldId id="277" r:id="rId3"/>
    <p:sldId id="257" r:id="rId4"/>
    <p:sldId id="270" r:id="rId5"/>
    <p:sldId id="265" r:id="rId6"/>
    <p:sldId id="268" r:id="rId7"/>
    <p:sldId id="266" r:id="rId8"/>
    <p:sldId id="275" r:id="rId9"/>
    <p:sldId id="267" r:id="rId10"/>
    <p:sldId id="271" r:id="rId11"/>
    <p:sldId id="274" r:id="rId12"/>
    <p:sldId id="272" r:id="rId13"/>
    <p:sldId id="273" r:id="rId14"/>
    <p:sldId id="258" r:id="rId15"/>
    <p:sldId id="263" r:id="rId16"/>
    <p:sldId id="259" r:id="rId17"/>
    <p:sldId id="260" r:id="rId18"/>
    <p:sldId id="262" r:id="rId19"/>
    <p:sldId id="26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3178"/>
    <p:restoredTop sz="86438"/>
  </p:normalViewPr>
  <p:slideViewPr>
    <p:cSldViewPr snapToGrid="0">
      <p:cViewPr varScale="1">
        <p:scale>
          <a:sx n="100" d="100"/>
          <a:sy n="100" d="100"/>
        </p:scale>
        <p:origin x="184" y="3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p:scale>
          <a:sx n="100" d="100"/>
          <a:sy n="100" d="100"/>
        </p:scale>
        <p:origin x="3888"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iagrams/_rels/data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89C8D4-84B7-4AAA-877C-889BD756C3D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D023A15-9624-40DE-9726-5A0BD37B7859}">
      <dgm:prSet/>
      <dgm:spPr/>
      <dgm:t>
        <a:bodyPr/>
        <a:lstStyle/>
        <a:p>
          <a:r>
            <a:rPr lang="en-US"/>
            <a:t>Lower labor force participation</a:t>
          </a:r>
        </a:p>
      </dgm:t>
    </dgm:pt>
    <dgm:pt modelId="{6C195262-6338-44AA-B583-C76A0D33D6C1}" type="parTrans" cxnId="{5CB492E3-BC3A-4F63-9830-415EA1274A6B}">
      <dgm:prSet/>
      <dgm:spPr/>
      <dgm:t>
        <a:bodyPr/>
        <a:lstStyle/>
        <a:p>
          <a:endParaRPr lang="en-US"/>
        </a:p>
      </dgm:t>
    </dgm:pt>
    <dgm:pt modelId="{D5956E65-5CAD-408D-8DC3-663E0F4C2947}" type="sibTrans" cxnId="{5CB492E3-BC3A-4F63-9830-415EA1274A6B}">
      <dgm:prSet/>
      <dgm:spPr/>
      <dgm:t>
        <a:bodyPr/>
        <a:lstStyle/>
        <a:p>
          <a:endParaRPr lang="en-US"/>
        </a:p>
      </dgm:t>
    </dgm:pt>
    <dgm:pt modelId="{989ECD2C-AACC-490C-98EB-E1796795C71F}">
      <dgm:prSet/>
      <dgm:spPr/>
      <dgm:t>
        <a:bodyPr/>
        <a:lstStyle/>
        <a:p>
          <a:r>
            <a:rPr lang="en-US"/>
            <a:t>Widening income inequality</a:t>
          </a:r>
        </a:p>
      </dgm:t>
    </dgm:pt>
    <dgm:pt modelId="{783E6EC2-128C-49EC-9A58-29AAA1D55DC0}" type="parTrans" cxnId="{8D5799DE-73F9-4B97-809C-D4FC5092B243}">
      <dgm:prSet/>
      <dgm:spPr/>
      <dgm:t>
        <a:bodyPr/>
        <a:lstStyle/>
        <a:p>
          <a:endParaRPr lang="en-US"/>
        </a:p>
      </dgm:t>
    </dgm:pt>
    <dgm:pt modelId="{FA3532DC-795C-41B7-9CDE-097592ED5B14}" type="sibTrans" cxnId="{8D5799DE-73F9-4B97-809C-D4FC5092B243}">
      <dgm:prSet/>
      <dgm:spPr/>
      <dgm:t>
        <a:bodyPr/>
        <a:lstStyle/>
        <a:p>
          <a:endParaRPr lang="en-US"/>
        </a:p>
      </dgm:t>
    </dgm:pt>
    <dgm:pt modelId="{1CC5906B-E0F5-40A3-BCBA-054C62EC771B}">
      <dgm:prSet/>
      <dgm:spPr/>
      <dgm:t>
        <a:bodyPr/>
        <a:lstStyle/>
        <a:p>
          <a:r>
            <a:rPr lang="en-US"/>
            <a:t>Higher public expenditures elsewhere</a:t>
          </a:r>
        </a:p>
      </dgm:t>
    </dgm:pt>
    <dgm:pt modelId="{8743FA73-E5CF-4BA5-B8FF-BBD5BFC6712F}" type="parTrans" cxnId="{F9DCF397-CF83-4C96-AFEB-37B8AD4D1F2C}">
      <dgm:prSet/>
      <dgm:spPr/>
      <dgm:t>
        <a:bodyPr/>
        <a:lstStyle/>
        <a:p>
          <a:endParaRPr lang="en-US"/>
        </a:p>
      </dgm:t>
    </dgm:pt>
    <dgm:pt modelId="{182677AE-0848-4AD0-B3F7-2FA55D6F152B}" type="sibTrans" cxnId="{F9DCF397-CF83-4C96-AFEB-37B8AD4D1F2C}">
      <dgm:prSet/>
      <dgm:spPr/>
      <dgm:t>
        <a:bodyPr/>
        <a:lstStyle/>
        <a:p>
          <a:endParaRPr lang="en-US"/>
        </a:p>
      </dgm:t>
    </dgm:pt>
    <dgm:pt modelId="{C6FDE3AB-72B1-4C9E-B94E-79577C0CBC35}">
      <dgm:prSet/>
      <dgm:spPr/>
      <dgm:t>
        <a:bodyPr/>
        <a:lstStyle/>
        <a:p>
          <a:r>
            <a:rPr lang="en-US"/>
            <a:t>Reduced consumer spending</a:t>
          </a:r>
        </a:p>
      </dgm:t>
    </dgm:pt>
    <dgm:pt modelId="{D5AF464A-41F9-4F7E-931C-D7D473CB9CF7}" type="parTrans" cxnId="{E7B89853-CBAC-4503-BE65-79A449AEA035}">
      <dgm:prSet/>
      <dgm:spPr/>
      <dgm:t>
        <a:bodyPr/>
        <a:lstStyle/>
        <a:p>
          <a:endParaRPr lang="en-US"/>
        </a:p>
      </dgm:t>
    </dgm:pt>
    <dgm:pt modelId="{052F1D22-B9C8-4E44-AEA5-56531FA97A3C}" type="sibTrans" cxnId="{E7B89853-CBAC-4503-BE65-79A449AEA035}">
      <dgm:prSet/>
      <dgm:spPr/>
      <dgm:t>
        <a:bodyPr/>
        <a:lstStyle/>
        <a:p>
          <a:endParaRPr lang="en-US"/>
        </a:p>
      </dgm:t>
    </dgm:pt>
    <dgm:pt modelId="{FC52A33C-76C3-44AD-99A4-8362A0D9FD8D}">
      <dgm:prSet/>
      <dgm:spPr/>
      <dgm:t>
        <a:bodyPr/>
        <a:lstStyle/>
        <a:p>
          <a:r>
            <a:rPr lang="en-US"/>
            <a:t>Increased employer-side costs</a:t>
          </a:r>
        </a:p>
      </dgm:t>
    </dgm:pt>
    <dgm:pt modelId="{E645E52E-F8BE-442E-A285-9BEA3190DCC7}" type="parTrans" cxnId="{D77A2C38-C95D-453E-8A8F-316380A668E8}">
      <dgm:prSet/>
      <dgm:spPr/>
      <dgm:t>
        <a:bodyPr/>
        <a:lstStyle/>
        <a:p>
          <a:endParaRPr lang="en-US"/>
        </a:p>
      </dgm:t>
    </dgm:pt>
    <dgm:pt modelId="{AEC97300-6CCC-40B9-BA44-67808DD67D90}" type="sibTrans" cxnId="{D77A2C38-C95D-453E-8A8F-316380A668E8}">
      <dgm:prSet/>
      <dgm:spPr/>
      <dgm:t>
        <a:bodyPr/>
        <a:lstStyle/>
        <a:p>
          <a:endParaRPr lang="en-US"/>
        </a:p>
      </dgm:t>
    </dgm:pt>
    <dgm:pt modelId="{A4C6654B-3AC6-D342-B832-F5E81C6A8D6F}" type="pres">
      <dgm:prSet presAssocID="{7989C8D4-84B7-4AAA-877C-889BD756C3D7}" presName="linear" presStyleCnt="0">
        <dgm:presLayoutVars>
          <dgm:animLvl val="lvl"/>
          <dgm:resizeHandles val="exact"/>
        </dgm:presLayoutVars>
      </dgm:prSet>
      <dgm:spPr/>
    </dgm:pt>
    <dgm:pt modelId="{EC814BE0-51D6-574C-BE51-39E81445A3D3}" type="pres">
      <dgm:prSet presAssocID="{CD023A15-9624-40DE-9726-5A0BD37B7859}" presName="parentText" presStyleLbl="node1" presStyleIdx="0" presStyleCnt="5">
        <dgm:presLayoutVars>
          <dgm:chMax val="0"/>
          <dgm:bulletEnabled val="1"/>
        </dgm:presLayoutVars>
      </dgm:prSet>
      <dgm:spPr/>
    </dgm:pt>
    <dgm:pt modelId="{F342DC19-7456-3D4C-AE21-E2F96E6FBCC0}" type="pres">
      <dgm:prSet presAssocID="{D5956E65-5CAD-408D-8DC3-663E0F4C2947}" presName="spacer" presStyleCnt="0"/>
      <dgm:spPr/>
    </dgm:pt>
    <dgm:pt modelId="{CC590ACD-0B73-C247-AE5C-D1F6469F6F63}" type="pres">
      <dgm:prSet presAssocID="{989ECD2C-AACC-490C-98EB-E1796795C71F}" presName="parentText" presStyleLbl="node1" presStyleIdx="1" presStyleCnt="5">
        <dgm:presLayoutVars>
          <dgm:chMax val="0"/>
          <dgm:bulletEnabled val="1"/>
        </dgm:presLayoutVars>
      </dgm:prSet>
      <dgm:spPr/>
    </dgm:pt>
    <dgm:pt modelId="{B135EF0C-1EB1-8949-A016-8D8E6B799FC8}" type="pres">
      <dgm:prSet presAssocID="{FA3532DC-795C-41B7-9CDE-097592ED5B14}" presName="spacer" presStyleCnt="0"/>
      <dgm:spPr/>
    </dgm:pt>
    <dgm:pt modelId="{CB607FBA-E187-0A4C-B39D-551DD22F07E2}" type="pres">
      <dgm:prSet presAssocID="{1CC5906B-E0F5-40A3-BCBA-054C62EC771B}" presName="parentText" presStyleLbl="node1" presStyleIdx="2" presStyleCnt="5">
        <dgm:presLayoutVars>
          <dgm:chMax val="0"/>
          <dgm:bulletEnabled val="1"/>
        </dgm:presLayoutVars>
      </dgm:prSet>
      <dgm:spPr/>
    </dgm:pt>
    <dgm:pt modelId="{54CC503C-F772-834E-AE98-43534C96D24C}" type="pres">
      <dgm:prSet presAssocID="{182677AE-0848-4AD0-B3F7-2FA55D6F152B}" presName="spacer" presStyleCnt="0"/>
      <dgm:spPr/>
    </dgm:pt>
    <dgm:pt modelId="{749C3B46-D762-F541-B258-E3E53E9D119B}" type="pres">
      <dgm:prSet presAssocID="{C6FDE3AB-72B1-4C9E-B94E-79577C0CBC35}" presName="parentText" presStyleLbl="node1" presStyleIdx="3" presStyleCnt="5">
        <dgm:presLayoutVars>
          <dgm:chMax val="0"/>
          <dgm:bulletEnabled val="1"/>
        </dgm:presLayoutVars>
      </dgm:prSet>
      <dgm:spPr/>
    </dgm:pt>
    <dgm:pt modelId="{60D1BC0A-A9D3-4E44-BC0B-87B2CC5FBC11}" type="pres">
      <dgm:prSet presAssocID="{052F1D22-B9C8-4E44-AEA5-56531FA97A3C}" presName="spacer" presStyleCnt="0"/>
      <dgm:spPr/>
    </dgm:pt>
    <dgm:pt modelId="{1C6EA8CC-7025-1D4E-9F6C-F5D72FBD89C3}" type="pres">
      <dgm:prSet presAssocID="{FC52A33C-76C3-44AD-99A4-8362A0D9FD8D}" presName="parentText" presStyleLbl="node1" presStyleIdx="4" presStyleCnt="5">
        <dgm:presLayoutVars>
          <dgm:chMax val="0"/>
          <dgm:bulletEnabled val="1"/>
        </dgm:presLayoutVars>
      </dgm:prSet>
      <dgm:spPr/>
    </dgm:pt>
  </dgm:ptLst>
  <dgm:cxnLst>
    <dgm:cxn modelId="{2BF05A29-B919-B141-A68D-AD500AE16329}" type="presOf" srcId="{CD023A15-9624-40DE-9726-5A0BD37B7859}" destId="{EC814BE0-51D6-574C-BE51-39E81445A3D3}" srcOrd="0" destOrd="0" presId="urn:microsoft.com/office/officeart/2005/8/layout/vList2"/>
    <dgm:cxn modelId="{E5E0012E-177E-5746-9108-7566290E3EE4}" type="presOf" srcId="{1CC5906B-E0F5-40A3-BCBA-054C62EC771B}" destId="{CB607FBA-E187-0A4C-B39D-551DD22F07E2}" srcOrd="0" destOrd="0" presId="urn:microsoft.com/office/officeart/2005/8/layout/vList2"/>
    <dgm:cxn modelId="{D77A2C38-C95D-453E-8A8F-316380A668E8}" srcId="{7989C8D4-84B7-4AAA-877C-889BD756C3D7}" destId="{FC52A33C-76C3-44AD-99A4-8362A0D9FD8D}" srcOrd="4" destOrd="0" parTransId="{E645E52E-F8BE-442E-A285-9BEA3190DCC7}" sibTransId="{AEC97300-6CCC-40B9-BA44-67808DD67D90}"/>
    <dgm:cxn modelId="{AC6FAD38-3358-1A4B-90D9-E8AA3F5953D7}" type="presOf" srcId="{989ECD2C-AACC-490C-98EB-E1796795C71F}" destId="{CC590ACD-0B73-C247-AE5C-D1F6469F6F63}" srcOrd="0" destOrd="0" presId="urn:microsoft.com/office/officeart/2005/8/layout/vList2"/>
    <dgm:cxn modelId="{E7B89853-CBAC-4503-BE65-79A449AEA035}" srcId="{7989C8D4-84B7-4AAA-877C-889BD756C3D7}" destId="{C6FDE3AB-72B1-4C9E-B94E-79577C0CBC35}" srcOrd="3" destOrd="0" parTransId="{D5AF464A-41F9-4F7E-931C-D7D473CB9CF7}" sibTransId="{052F1D22-B9C8-4E44-AEA5-56531FA97A3C}"/>
    <dgm:cxn modelId="{F9DCF397-CF83-4C96-AFEB-37B8AD4D1F2C}" srcId="{7989C8D4-84B7-4AAA-877C-889BD756C3D7}" destId="{1CC5906B-E0F5-40A3-BCBA-054C62EC771B}" srcOrd="2" destOrd="0" parTransId="{8743FA73-E5CF-4BA5-B8FF-BBD5BFC6712F}" sibTransId="{182677AE-0848-4AD0-B3F7-2FA55D6F152B}"/>
    <dgm:cxn modelId="{0E35A8AF-24A1-F946-AD81-266F489A9F3A}" type="presOf" srcId="{7989C8D4-84B7-4AAA-877C-889BD756C3D7}" destId="{A4C6654B-3AC6-D342-B832-F5E81C6A8D6F}" srcOrd="0" destOrd="0" presId="urn:microsoft.com/office/officeart/2005/8/layout/vList2"/>
    <dgm:cxn modelId="{0B1A4FBC-DCEF-A940-9B65-FC8FB6D4EC44}" type="presOf" srcId="{FC52A33C-76C3-44AD-99A4-8362A0D9FD8D}" destId="{1C6EA8CC-7025-1D4E-9F6C-F5D72FBD89C3}" srcOrd="0" destOrd="0" presId="urn:microsoft.com/office/officeart/2005/8/layout/vList2"/>
    <dgm:cxn modelId="{597E85BC-1AB4-2440-B1A6-EE3AF579D055}" type="presOf" srcId="{C6FDE3AB-72B1-4C9E-B94E-79577C0CBC35}" destId="{749C3B46-D762-F541-B258-E3E53E9D119B}" srcOrd="0" destOrd="0" presId="urn:microsoft.com/office/officeart/2005/8/layout/vList2"/>
    <dgm:cxn modelId="{8D5799DE-73F9-4B97-809C-D4FC5092B243}" srcId="{7989C8D4-84B7-4AAA-877C-889BD756C3D7}" destId="{989ECD2C-AACC-490C-98EB-E1796795C71F}" srcOrd="1" destOrd="0" parTransId="{783E6EC2-128C-49EC-9A58-29AAA1D55DC0}" sibTransId="{FA3532DC-795C-41B7-9CDE-097592ED5B14}"/>
    <dgm:cxn modelId="{5CB492E3-BC3A-4F63-9830-415EA1274A6B}" srcId="{7989C8D4-84B7-4AAA-877C-889BD756C3D7}" destId="{CD023A15-9624-40DE-9726-5A0BD37B7859}" srcOrd="0" destOrd="0" parTransId="{6C195262-6338-44AA-B583-C76A0D33D6C1}" sibTransId="{D5956E65-5CAD-408D-8DC3-663E0F4C2947}"/>
    <dgm:cxn modelId="{C044761E-807C-2344-BD6B-3699A88D0664}" type="presParOf" srcId="{A4C6654B-3AC6-D342-B832-F5E81C6A8D6F}" destId="{EC814BE0-51D6-574C-BE51-39E81445A3D3}" srcOrd="0" destOrd="0" presId="urn:microsoft.com/office/officeart/2005/8/layout/vList2"/>
    <dgm:cxn modelId="{87CC659E-AACA-3E44-BD80-545139403685}" type="presParOf" srcId="{A4C6654B-3AC6-D342-B832-F5E81C6A8D6F}" destId="{F342DC19-7456-3D4C-AE21-E2F96E6FBCC0}" srcOrd="1" destOrd="0" presId="urn:microsoft.com/office/officeart/2005/8/layout/vList2"/>
    <dgm:cxn modelId="{9C44F752-9B11-F341-B246-77C7EE0D45C6}" type="presParOf" srcId="{A4C6654B-3AC6-D342-B832-F5E81C6A8D6F}" destId="{CC590ACD-0B73-C247-AE5C-D1F6469F6F63}" srcOrd="2" destOrd="0" presId="urn:microsoft.com/office/officeart/2005/8/layout/vList2"/>
    <dgm:cxn modelId="{D79D9684-1E12-A046-ABEF-6470AA632FB4}" type="presParOf" srcId="{A4C6654B-3AC6-D342-B832-F5E81C6A8D6F}" destId="{B135EF0C-1EB1-8949-A016-8D8E6B799FC8}" srcOrd="3" destOrd="0" presId="urn:microsoft.com/office/officeart/2005/8/layout/vList2"/>
    <dgm:cxn modelId="{21F6065A-0622-7E45-BEEF-0147955FCF97}" type="presParOf" srcId="{A4C6654B-3AC6-D342-B832-F5E81C6A8D6F}" destId="{CB607FBA-E187-0A4C-B39D-551DD22F07E2}" srcOrd="4" destOrd="0" presId="urn:microsoft.com/office/officeart/2005/8/layout/vList2"/>
    <dgm:cxn modelId="{C69B4C72-95B0-3C40-9791-ECF1069B6E7E}" type="presParOf" srcId="{A4C6654B-3AC6-D342-B832-F5E81C6A8D6F}" destId="{54CC503C-F772-834E-AE98-43534C96D24C}" srcOrd="5" destOrd="0" presId="urn:microsoft.com/office/officeart/2005/8/layout/vList2"/>
    <dgm:cxn modelId="{03F209B9-692E-B343-A97F-7197B18E017F}" type="presParOf" srcId="{A4C6654B-3AC6-D342-B832-F5E81C6A8D6F}" destId="{749C3B46-D762-F541-B258-E3E53E9D119B}" srcOrd="6" destOrd="0" presId="urn:microsoft.com/office/officeart/2005/8/layout/vList2"/>
    <dgm:cxn modelId="{F5C7C6B1-EF1E-6745-986D-04C18E1C8986}" type="presParOf" srcId="{A4C6654B-3AC6-D342-B832-F5E81C6A8D6F}" destId="{60D1BC0A-A9D3-4E44-BC0B-87B2CC5FBC11}" srcOrd="7" destOrd="0" presId="urn:microsoft.com/office/officeart/2005/8/layout/vList2"/>
    <dgm:cxn modelId="{C8A7D484-4FE9-2F4C-AFA4-051B36DFA56A}" type="presParOf" srcId="{A4C6654B-3AC6-D342-B832-F5E81C6A8D6F}" destId="{1C6EA8CC-7025-1D4E-9F6C-F5D72FBD89C3}"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566E1F-41A0-4FF5-9149-1B924E40652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FC33CB0-4CDF-49E9-825C-63C1EAB4D9D6}">
      <dgm:prSet/>
      <dgm:spPr/>
      <dgm:t>
        <a:bodyPr/>
        <a:lstStyle/>
        <a:p>
          <a:r>
            <a:rPr lang="en-US"/>
            <a:t>Stunted child development</a:t>
          </a:r>
        </a:p>
      </dgm:t>
    </dgm:pt>
    <dgm:pt modelId="{BC3C173A-5C16-480D-AF86-0EE7A41F198F}" type="parTrans" cxnId="{CB696244-BE1E-4557-800B-AD3C5002E266}">
      <dgm:prSet/>
      <dgm:spPr/>
      <dgm:t>
        <a:bodyPr/>
        <a:lstStyle/>
        <a:p>
          <a:endParaRPr lang="en-US"/>
        </a:p>
      </dgm:t>
    </dgm:pt>
    <dgm:pt modelId="{E4769EB7-194F-4BE2-B7F3-34F6EA5A37E7}" type="sibTrans" cxnId="{CB696244-BE1E-4557-800B-AD3C5002E266}">
      <dgm:prSet/>
      <dgm:spPr/>
      <dgm:t>
        <a:bodyPr/>
        <a:lstStyle/>
        <a:p>
          <a:endParaRPr lang="en-US"/>
        </a:p>
      </dgm:t>
    </dgm:pt>
    <dgm:pt modelId="{ED35761A-5A52-4556-9923-8C75EEBE91EE}">
      <dgm:prSet/>
      <dgm:spPr/>
      <dgm:t>
        <a:bodyPr/>
        <a:lstStyle/>
        <a:p>
          <a:r>
            <a:rPr lang="en-US"/>
            <a:t>Entrenched gender disparities</a:t>
          </a:r>
        </a:p>
      </dgm:t>
    </dgm:pt>
    <dgm:pt modelId="{0E43AAC2-A231-49FE-BF8E-F5DBF168FF9E}" type="parTrans" cxnId="{3A40D6EA-2460-4000-88F1-6B16039B2408}">
      <dgm:prSet/>
      <dgm:spPr/>
      <dgm:t>
        <a:bodyPr/>
        <a:lstStyle/>
        <a:p>
          <a:endParaRPr lang="en-US"/>
        </a:p>
      </dgm:t>
    </dgm:pt>
    <dgm:pt modelId="{76CD9879-BA98-4E19-B010-359DEE469152}" type="sibTrans" cxnId="{3A40D6EA-2460-4000-88F1-6B16039B2408}">
      <dgm:prSet/>
      <dgm:spPr/>
      <dgm:t>
        <a:bodyPr/>
        <a:lstStyle/>
        <a:p>
          <a:endParaRPr lang="en-US"/>
        </a:p>
      </dgm:t>
    </dgm:pt>
    <dgm:pt modelId="{D6257037-CEB9-43D6-8C90-925EE1C80381}">
      <dgm:prSet/>
      <dgm:spPr/>
      <dgm:t>
        <a:bodyPr/>
        <a:lstStyle/>
        <a:p>
          <a:r>
            <a:rPr lang="en-US"/>
            <a:t>Higher poverty rates</a:t>
          </a:r>
        </a:p>
      </dgm:t>
    </dgm:pt>
    <dgm:pt modelId="{021F4C11-65AD-447A-8540-C10F63F62226}" type="parTrans" cxnId="{84E88FEE-D851-4AC7-8054-CAD9416337C3}">
      <dgm:prSet/>
      <dgm:spPr/>
      <dgm:t>
        <a:bodyPr/>
        <a:lstStyle/>
        <a:p>
          <a:endParaRPr lang="en-US"/>
        </a:p>
      </dgm:t>
    </dgm:pt>
    <dgm:pt modelId="{CBDD9A43-0522-43F5-9C54-75C4B8177578}" type="sibTrans" cxnId="{84E88FEE-D851-4AC7-8054-CAD9416337C3}">
      <dgm:prSet/>
      <dgm:spPr/>
      <dgm:t>
        <a:bodyPr/>
        <a:lstStyle/>
        <a:p>
          <a:endParaRPr lang="en-US"/>
        </a:p>
      </dgm:t>
    </dgm:pt>
    <dgm:pt modelId="{7A68A57C-2AC9-4EB2-A18E-8A37634E7F7C}">
      <dgm:prSet/>
      <dgm:spPr/>
      <dgm:t>
        <a:bodyPr/>
        <a:lstStyle/>
        <a:p>
          <a:r>
            <a:rPr lang="en-US"/>
            <a:t>Caregiver burnout and stress</a:t>
          </a:r>
        </a:p>
      </dgm:t>
    </dgm:pt>
    <dgm:pt modelId="{40E71AF7-F294-4A9D-ABA8-09B89B765680}" type="parTrans" cxnId="{70321DA0-608D-4BB3-B58A-0A57BCDAB21F}">
      <dgm:prSet/>
      <dgm:spPr/>
      <dgm:t>
        <a:bodyPr/>
        <a:lstStyle/>
        <a:p>
          <a:endParaRPr lang="en-US"/>
        </a:p>
      </dgm:t>
    </dgm:pt>
    <dgm:pt modelId="{F4212AE9-1F59-4C30-8B08-F0C8EDF13ABF}" type="sibTrans" cxnId="{70321DA0-608D-4BB3-B58A-0A57BCDAB21F}">
      <dgm:prSet/>
      <dgm:spPr/>
      <dgm:t>
        <a:bodyPr/>
        <a:lstStyle/>
        <a:p>
          <a:endParaRPr lang="en-US"/>
        </a:p>
      </dgm:t>
    </dgm:pt>
    <dgm:pt modelId="{6DC58EA4-7736-43DB-802D-44759DEEEDD4}">
      <dgm:prSet/>
      <dgm:spPr/>
      <dgm:t>
        <a:bodyPr/>
        <a:lstStyle/>
        <a:p>
          <a:r>
            <a:rPr lang="en-US"/>
            <a:t>Weaker social cohesion</a:t>
          </a:r>
        </a:p>
      </dgm:t>
    </dgm:pt>
    <dgm:pt modelId="{D4C184AC-F6BA-4386-860B-7E3694478595}" type="parTrans" cxnId="{B766916B-EE83-4F8B-8169-7EA608EDE66A}">
      <dgm:prSet/>
      <dgm:spPr/>
      <dgm:t>
        <a:bodyPr/>
        <a:lstStyle/>
        <a:p>
          <a:endParaRPr lang="en-US"/>
        </a:p>
      </dgm:t>
    </dgm:pt>
    <dgm:pt modelId="{D803F96C-736A-418C-A69B-943837B487CD}" type="sibTrans" cxnId="{B766916B-EE83-4F8B-8169-7EA608EDE66A}">
      <dgm:prSet/>
      <dgm:spPr/>
      <dgm:t>
        <a:bodyPr/>
        <a:lstStyle/>
        <a:p>
          <a:endParaRPr lang="en-US"/>
        </a:p>
      </dgm:t>
    </dgm:pt>
    <dgm:pt modelId="{F9AB5AC9-4960-2744-BEB6-AC483165B4F0}" type="pres">
      <dgm:prSet presAssocID="{95566E1F-41A0-4FF5-9149-1B924E406528}" presName="linear" presStyleCnt="0">
        <dgm:presLayoutVars>
          <dgm:animLvl val="lvl"/>
          <dgm:resizeHandles val="exact"/>
        </dgm:presLayoutVars>
      </dgm:prSet>
      <dgm:spPr/>
    </dgm:pt>
    <dgm:pt modelId="{457535A6-556A-2D4B-B939-576A0A48117C}" type="pres">
      <dgm:prSet presAssocID="{7FC33CB0-4CDF-49E9-825C-63C1EAB4D9D6}" presName="parentText" presStyleLbl="node1" presStyleIdx="0" presStyleCnt="5">
        <dgm:presLayoutVars>
          <dgm:chMax val="0"/>
          <dgm:bulletEnabled val="1"/>
        </dgm:presLayoutVars>
      </dgm:prSet>
      <dgm:spPr/>
    </dgm:pt>
    <dgm:pt modelId="{759FEBBA-3DE8-054B-917B-38B3648510A4}" type="pres">
      <dgm:prSet presAssocID="{E4769EB7-194F-4BE2-B7F3-34F6EA5A37E7}" presName="spacer" presStyleCnt="0"/>
      <dgm:spPr/>
    </dgm:pt>
    <dgm:pt modelId="{24E55DAB-A684-E24C-8B24-76BABE21F1E6}" type="pres">
      <dgm:prSet presAssocID="{ED35761A-5A52-4556-9923-8C75EEBE91EE}" presName="parentText" presStyleLbl="node1" presStyleIdx="1" presStyleCnt="5">
        <dgm:presLayoutVars>
          <dgm:chMax val="0"/>
          <dgm:bulletEnabled val="1"/>
        </dgm:presLayoutVars>
      </dgm:prSet>
      <dgm:spPr/>
    </dgm:pt>
    <dgm:pt modelId="{5D368E36-B128-1247-B077-34C1A8CA62AF}" type="pres">
      <dgm:prSet presAssocID="{76CD9879-BA98-4E19-B010-359DEE469152}" presName="spacer" presStyleCnt="0"/>
      <dgm:spPr/>
    </dgm:pt>
    <dgm:pt modelId="{9AC70694-60E6-1940-9DD4-A8263230BDA0}" type="pres">
      <dgm:prSet presAssocID="{D6257037-CEB9-43D6-8C90-925EE1C80381}" presName="parentText" presStyleLbl="node1" presStyleIdx="2" presStyleCnt="5">
        <dgm:presLayoutVars>
          <dgm:chMax val="0"/>
          <dgm:bulletEnabled val="1"/>
        </dgm:presLayoutVars>
      </dgm:prSet>
      <dgm:spPr/>
    </dgm:pt>
    <dgm:pt modelId="{2ED90BC4-6949-6F4A-B5FE-B4A2BD9B691D}" type="pres">
      <dgm:prSet presAssocID="{CBDD9A43-0522-43F5-9C54-75C4B8177578}" presName="spacer" presStyleCnt="0"/>
      <dgm:spPr/>
    </dgm:pt>
    <dgm:pt modelId="{76B82021-873F-5244-B36A-D7D32C66C1AA}" type="pres">
      <dgm:prSet presAssocID="{7A68A57C-2AC9-4EB2-A18E-8A37634E7F7C}" presName="parentText" presStyleLbl="node1" presStyleIdx="3" presStyleCnt="5">
        <dgm:presLayoutVars>
          <dgm:chMax val="0"/>
          <dgm:bulletEnabled val="1"/>
        </dgm:presLayoutVars>
      </dgm:prSet>
      <dgm:spPr/>
    </dgm:pt>
    <dgm:pt modelId="{3A8C0E17-85E8-424F-A408-7259FD619760}" type="pres">
      <dgm:prSet presAssocID="{F4212AE9-1F59-4C30-8B08-F0C8EDF13ABF}" presName="spacer" presStyleCnt="0"/>
      <dgm:spPr/>
    </dgm:pt>
    <dgm:pt modelId="{B52E837B-6C4C-644F-80E8-8CD63B9B4943}" type="pres">
      <dgm:prSet presAssocID="{6DC58EA4-7736-43DB-802D-44759DEEEDD4}" presName="parentText" presStyleLbl="node1" presStyleIdx="4" presStyleCnt="5">
        <dgm:presLayoutVars>
          <dgm:chMax val="0"/>
          <dgm:bulletEnabled val="1"/>
        </dgm:presLayoutVars>
      </dgm:prSet>
      <dgm:spPr/>
    </dgm:pt>
  </dgm:ptLst>
  <dgm:cxnLst>
    <dgm:cxn modelId="{69CAE12E-C5AD-864F-B7CD-5422ECE7B1CE}" type="presOf" srcId="{95566E1F-41A0-4FF5-9149-1B924E406528}" destId="{F9AB5AC9-4960-2744-BEB6-AC483165B4F0}" srcOrd="0" destOrd="0" presId="urn:microsoft.com/office/officeart/2005/8/layout/vList2"/>
    <dgm:cxn modelId="{CB696244-BE1E-4557-800B-AD3C5002E266}" srcId="{95566E1F-41A0-4FF5-9149-1B924E406528}" destId="{7FC33CB0-4CDF-49E9-825C-63C1EAB4D9D6}" srcOrd="0" destOrd="0" parTransId="{BC3C173A-5C16-480D-AF86-0EE7A41F198F}" sibTransId="{E4769EB7-194F-4BE2-B7F3-34F6EA5A37E7}"/>
    <dgm:cxn modelId="{445DD25D-CB9D-864E-AEBE-49D1E06E7638}" type="presOf" srcId="{6DC58EA4-7736-43DB-802D-44759DEEEDD4}" destId="{B52E837B-6C4C-644F-80E8-8CD63B9B4943}" srcOrd="0" destOrd="0" presId="urn:microsoft.com/office/officeart/2005/8/layout/vList2"/>
    <dgm:cxn modelId="{92FAA962-8F47-3448-B29B-641CD6C02184}" type="presOf" srcId="{7FC33CB0-4CDF-49E9-825C-63C1EAB4D9D6}" destId="{457535A6-556A-2D4B-B939-576A0A48117C}" srcOrd="0" destOrd="0" presId="urn:microsoft.com/office/officeart/2005/8/layout/vList2"/>
    <dgm:cxn modelId="{B766916B-EE83-4F8B-8169-7EA608EDE66A}" srcId="{95566E1F-41A0-4FF5-9149-1B924E406528}" destId="{6DC58EA4-7736-43DB-802D-44759DEEEDD4}" srcOrd="4" destOrd="0" parTransId="{D4C184AC-F6BA-4386-860B-7E3694478595}" sibTransId="{D803F96C-736A-418C-A69B-943837B487CD}"/>
    <dgm:cxn modelId="{405A8178-F216-B543-AC6A-523610438EA6}" type="presOf" srcId="{ED35761A-5A52-4556-9923-8C75EEBE91EE}" destId="{24E55DAB-A684-E24C-8B24-76BABE21F1E6}" srcOrd="0" destOrd="0" presId="urn:microsoft.com/office/officeart/2005/8/layout/vList2"/>
    <dgm:cxn modelId="{DC803C9A-F105-2D4E-8019-24AD7E6EDB23}" type="presOf" srcId="{D6257037-CEB9-43D6-8C90-925EE1C80381}" destId="{9AC70694-60E6-1940-9DD4-A8263230BDA0}" srcOrd="0" destOrd="0" presId="urn:microsoft.com/office/officeart/2005/8/layout/vList2"/>
    <dgm:cxn modelId="{70321DA0-608D-4BB3-B58A-0A57BCDAB21F}" srcId="{95566E1F-41A0-4FF5-9149-1B924E406528}" destId="{7A68A57C-2AC9-4EB2-A18E-8A37634E7F7C}" srcOrd="3" destOrd="0" parTransId="{40E71AF7-F294-4A9D-ABA8-09B89B765680}" sibTransId="{F4212AE9-1F59-4C30-8B08-F0C8EDF13ABF}"/>
    <dgm:cxn modelId="{5C6ED0BD-89E9-734B-9824-22EBCC319767}" type="presOf" srcId="{7A68A57C-2AC9-4EB2-A18E-8A37634E7F7C}" destId="{76B82021-873F-5244-B36A-D7D32C66C1AA}" srcOrd="0" destOrd="0" presId="urn:microsoft.com/office/officeart/2005/8/layout/vList2"/>
    <dgm:cxn modelId="{3A40D6EA-2460-4000-88F1-6B16039B2408}" srcId="{95566E1F-41A0-4FF5-9149-1B924E406528}" destId="{ED35761A-5A52-4556-9923-8C75EEBE91EE}" srcOrd="1" destOrd="0" parTransId="{0E43AAC2-A231-49FE-BF8E-F5DBF168FF9E}" sibTransId="{76CD9879-BA98-4E19-B010-359DEE469152}"/>
    <dgm:cxn modelId="{84E88FEE-D851-4AC7-8054-CAD9416337C3}" srcId="{95566E1F-41A0-4FF5-9149-1B924E406528}" destId="{D6257037-CEB9-43D6-8C90-925EE1C80381}" srcOrd="2" destOrd="0" parTransId="{021F4C11-65AD-447A-8540-C10F63F62226}" sibTransId="{CBDD9A43-0522-43F5-9C54-75C4B8177578}"/>
    <dgm:cxn modelId="{0ADF2467-185C-2544-9724-02C20B9C3B74}" type="presParOf" srcId="{F9AB5AC9-4960-2744-BEB6-AC483165B4F0}" destId="{457535A6-556A-2D4B-B939-576A0A48117C}" srcOrd="0" destOrd="0" presId="urn:microsoft.com/office/officeart/2005/8/layout/vList2"/>
    <dgm:cxn modelId="{07A0B1E7-4D53-A547-A54E-D8068EBFF642}" type="presParOf" srcId="{F9AB5AC9-4960-2744-BEB6-AC483165B4F0}" destId="{759FEBBA-3DE8-054B-917B-38B3648510A4}" srcOrd="1" destOrd="0" presId="urn:microsoft.com/office/officeart/2005/8/layout/vList2"/>
    <dgm:cxn modelId="{C542EA6D-4302-EC45-BF96-72BC8F91E63A}" type="presParOf" srcId="{F9AB5AC9-4960-2744-BEB6-AC483165B4F0}" destId="{24E55DAB-A684-E24C-8B24-76BABE21F1E6}" srcOrd="2" destOrd="0" presId="urn:microsoft.com/office/officeart/2005/8/layout/vList2"/>
    <dgm:cxn modelId="{4007847F-54C1-AF45-B84D-F0B6BDC1860A}" type="presParOf" srcId="{F9AB5AC9-4960-2744-BEB6-AC483165B4F0}" destId="{5D368E36-B128-1247-B077-34C1A8CA62AF}" srcOrd="3" destOrd="0" presId="urn:microsoft.com/office/officeart/2005/8/layout/vList2"/>
    <dgm:cxn modelId="{F7FDF78F-A8EB-4244-B7A8-6517CED810C1}" type="presParOf" srcId="{F9AB5AC9-4960-2744-BEB6-AC483165B4F0}" destId="{9AC70694-60E6-1940-9DD4-A8263230BDA0}" srcOrd="4" destOrd="0" presId="urn:microsoft.com/office/officeart/2005/8/layout/vList2"/>
    <dgm:cxn modelId="{C227EEC0-39F6-054A-8A9A-D7ABAE907A6F}" type="presParOf" srcId="{F9AB5AC9-4960-2744-BEB6-AC483165B4F0}" destId="{2ED90BC4-6949-6F4A-B5FE-B4A2BD9B691D}" srcOrd="5" destOrd="0" presId="urn:microsoft.com/office/officeart/2005/8/layout/vList2"/>
    <dgm:cxn modelId="{49CA13C9-3691-484A-AA1E-28C4DD217969}" type="presParOf" srcId="{F9AB5AC9-4960-2744-BEB6-AC483165B4F0}" destId="{76B82021-873F-5244-B36A-D7D32C66C1AA}" srcOrd="6" destOrd="0" presId="urn:microsoft.com/office/officeart/2005/8/layout/vList2"/>
    <dgm:cxn modelId="{9D46CE4A-7ECE-6A40-B729-FD1E25033093}" type="presParOf" srcId="{F9AB5AC9-4960-2744-BEB6-AC483165B4F0}" destId="{3A8C0E17-85E8-424F-A408-7259FD619760}" srcOrd="7" destOrd="0" presId="urn:microsoft.com/office/officeart/2005/8/layout/vList2"/>
    <dgm:cxn modelId="{688E3C78-B17C-B447-9E01-85D14CED79A4}" type="presParOf" srcId="{F9AB5AC9-4960-2744-BEB6-AC483165B4F0}" destId="{B52E837B-6C4C-644F-80E8-8CD63B9B4943}"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500E25-CA40-4F90-A706-16A9CC48FD4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B3A16690-F89D-4025-9C9F-8002BF64B4A7}">
      <dgm:prSet/>
      <dgm:spPr/>
      <dgm:t>
        <a:bodyPr/>
        <a:lstStyle/>
        <a:p>
          <a:pPr>
            <a:lnSpc>
              <a:spcPct val="100000"/>
            </a:lnSpc>
          </a:pPr>
          <a:r>
            <a:rPr lang="en-US"/>
            <a:t>Higher labor force participation</a:t>
          </a:r>
        </a:p>
      </dgm:t>
    </dgm:pt>
    <dgm:pt modelId="{67C8C77E-7F7D-4C4A-8248-D2ED48D38E82}" type="parTrans" cxnId="{950049E5-870D-4114-977F-DBA0CCA8FC26}">
      <dgm:prSet/>
      <dgm:spPr/>
      <dgm:t>
        <a:bodyPr/>
        <a:lstStyle/>
        <a:p>
          <a:endParaRPr lang="en-US"/>
        </a:p>
      </dgm:t>
    </dgm:pt>
    <dgm:pt modelId="{C8C218F0-A156-4C25-8CD7-6FFF7128297E}" type="sibTrans" cxnId="{950049E5-870D-4114-977F-DBA0CCA8FC26}">
      <dgm:prSet/>
      <dgm:spPr/>
      <dgm:t>
        <a:bodyPr/>
        <a:lstStyle/>
        <a:p>
          <a:endParaRPr lang="en-US"/>
        </a:p>
      </dgm:t>
    </dgm:pt>
    <dgm:pt modelId="{2C52936D-D3DD-4B3F-BF1A-4A85963FD22D}">
      <dgm:prSet/>
      <dgm:spPr/>
      <dgm:t>
        <a:bodyPr/>
        <a:lstStyle/>
        <a:p>
          <a:pPr>
            <a:lnSpc>
              <a:spcPct val="100000"/>
            </a:lnSpc>
          </a:pPr>
          <a:r>
            <a:rPr lang="en-US"/>
            <a:t>Increased earnings and tax revenue</a:t>
          </a:r>
        </a:p>
      </dgm:t>
    </dgm:pt>
    <dgm:pt modelId="{072337E4-71E7-4F5C-B686-CF8C33772668}" type="parTrans" cxnId="{31019822-60BD-469C-AEB8-9D424E741348}">
      <dgm:prSet/>
      <dgm:spPr/>
      <dgm:t>
        <a:bodyPr/>
        <a:lstStyle/>
        <a:p>
          <a:endParaRPr lang="en-US"/>
        </a:p>
      </dgm:t>
    </dgm:pt>
    <dgm:pt modelId="{6F748452-6F2E-4464-AD8D-7201FCC45054}" type="sibTrans" cxnId="{31019822-60BD-469C-AEB8-9D424E741348}">
      <dgm:prSet/>
      <dgm:spPr/>
      <dgm:t>
        <a:bodyPr/>
        <a:lstStyle/>
        <a:p>
          <a:endParaRPr lang="en-US"/>
        </a:p>
      </dgm:t>
    </dgm:pt>
    <dgm:pt modelId="{65C034C7-8CB7-4005-834F-9661D15E5DD7}">
      <dgm:prSet/>
      <dgm:spPr/>
      <dgm:t>
        <a:bodyPr/>
        <a:lstStyle/>
        <a:p>
          <a:pPr>
            <a:lnSpc>
              <a:spcPct val="100000"/>
            </a:lnSpc>
          </a:pPr>
          <a:r>
            <a:rPr lang="en-US"/>
            <a:t>Reduced employer costs</a:t>
          </a:r>
        </a:p>
      </dgm:t>
    </dgm:pt>
    <dgm:pt modelId="{C75E9A41-B9AD-4EFA-B201-B2AE0E1D39BC}" type="parTrans" cxnId="{E378B48A-9FF9-4B59-B3DB-84DD69EA91E8}">
      <dgm:prSet/>
      <dgm:spPr/>
      <dgm:t>
        <a:bodyPr/>
        <a:lstStyle/>
        <a:p>
          <a:endParaRPr lang="en-US"/>
        </a:p>
      </dgm:t>
    </dgm:pt>
    <dgm:pt modelId="{8D476E64-79BD-4543-BEFA-F098D7786D80}" type="sibTrans" cxnId="{E378B48A-9FF9-4B59-B3DB-84DD69EA91E8}">
      <dgm:prSet/>
      <dgm:spPr/>
      <dgm:t>
        <a:bodyPr/>
        <a:lstStyle/>
        <a:p>
          <a:endParaRPr lang="en-US"/>
        </a:p>
      </dgm:t>
    </dgm:pt>
    <dgm:pt modelId="{78D3EF0E-D669-4CB4-9B41-8B729B147066}">
      <dgm:prSet/>
      <dgm:spPr/>
      <dgm:t>
        <a:bodyPr/>
        <a:lstStyle/>
        <a:p>
          <a:pPr>
            <a:lnSpc>
              <a:spcPct val="100000"/>
            </a:lnSpc>
          </a:pPr>
          <a:r>
            <a:rPr lang="en-US"/>
            <a:t>Stimulated consumer spending</a:t>
          </a:r>
        </a:p>
      </dgm:t>
    </dgm:pt>
    <dgm:pt modelId="{35CB2E50-9131-416F-A9E9-D8A3EDFA6668}" type="parTrans" cxnId="{CA72173A-B2EF-4645-88A0-80619383DB21}">
      <dgm:prSet/>
      <dgm:spPr/>
      <dgm:t>
        <a:bodyPr/>
        <a:lstStyle/>
        <a:p>
          <a:endParaRPr lang="en-US"/>
        </a:p>
      </dgm:t>
    </dgm:pt>
    <dgm:pt modelId="{0E39BD43-54F8-413B-B196-4518D20E01C0}" type="sibTrans" cxnId="{CA72173A-B2EF-4645-88A0-80619383DB21}">
      <dgm:prSet/>
      <dgm:spPr/>
      <dgm:t>
        <a:bodyPr/>
        <a:lstStyle/>
        <a:p>
          <a:endParaRPr lang="en-US"/>
        </a:p>
      </dgm:t>
    </dgm:pt>
    <dgm:pt modelId="{75FD37E5-6496-41BC-82CA-68E7A31D8B2E}">
      <dgm:prSet/>
      <dgm:spPr/>
      <dgm:t>
        <a:bodyPr/>
        <a:lstStyle/>
        <a:p>
          <a:pPr>
            <a:lnSpc>
              <a:spcPct val="100000"/>
            </a:lnSpc>
          </a:pPr>
          <a:r>
            <a:rPr lang="en-US"/>
            <a:t>Poverty reduction</a:t>
          </a:r>
        </a:p>
      </dgm:t>
    </dgm:pt>
    <dgm:pt modelId="{1642D477-5E34-443F-A356-E0E7E4787535}" type="parTrans" cxnId="{23789319-56E1-4727-9636-CCEFEEFB2915}">
      <dgm:prSet/>
      <dgm:spPr/>
      <dgm:t>
        <a:bodyPr/>
        <a:lstStyle/>
        <a:p>
          <a:endParaRPr lang="en-US"/>
        </a:p>
      </dgm:t>
    </dgm:pt>
    <dgm:pt modelId="{CEBD2743-5B78-4E58-966F-AD0164612F9C}" type="sibTrans" cxnId="{23789319-56E1-4727-9636-CCEFEEFB2915}">
      <dgm:prSet/>
      <dgm:spPr/>
      <dgm:t>
        <a:bodyPr/>
        <a:lstStyle/>
        <a:p>
          <a:endParaRPr lang="en-US"/>
        </a:p>
      </dgm:t>
    </dgm:pt>
    <dgm:pt modelId="{5D86AB12-62AE-4A32-BA41-D3D4E2DB320B}" type="pres">
      <dgm:prSet presAssocID="{FF500E25-CA40-4F90-A706-16A9CC48FD4A}" presName="root" presStyleCnt="0">
        <dgm:presLayoutVars>
          <dgm:dir/>
          <dgm:resizeHandles val="exact"/>
        </dgm:presLayoutVars>
      </dgm:prSet>
      <dgm:spPr/>
    </dgm:pt>
    <dgm:pt modelId="{050543D8-F100-4401-A3BA-D4BEF7689039}" type="pres">
      <dgm:prSet presAssocID="{B3A16690-F89D-4025-9C9F-8002BF64B4A7}" presName="compNode" presStyleCnt="0"/>
      <dgm:spPr/>
    </dgm:pt>
    <dgm:pt modelId="{3C599F18-3661-43C4-BF2F-3EA0BDAA1625}" type="pres">
      <dgm:prSet presAssocID="{B3A16690-F89D-4025-9C9F-8002BF64B4A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nboarding"/>
        </a:ext>
      </dgm:extLst>
    </dgm:pt>
    <dgm:pt modelId="{3055F469-26D6-4504-A89B-0F86FE1C31BF}" type="pres">
      <dgm:prSet presAssocID="{B3A16690-F89D-4025-9C9F-8002BF64B4A7}" presName="spaceRect" presStyleCnt="0"/>
      <dgm:spPr/>
    </dgm:pt>
    <dgm:pt modelId="{48FBD14C-01FA-4A91-B7FE-1D2CAC263606}" type="pres">
      <dgm:prSet presAssocID="{B3A16690-F89D-4025-9C9F-8002BF64B4A7}" presName="textRect" presStyleLbl="revTx" presStyleIdx="0" presStyleCnt="5">
        <dgm:presLayoutVars>
          <dgm:chMax val="1"/>
          <dgm:chPref val="1"/>
        </dgm:presLayoutVars>
      </dgm:prSet>
      <dgm:spPr/>
    </dgm:pt>
    <dgm:pt modelId="{C4943A92-558A-451C-8160-24326E7E6F57}" type="pres">
      <dgm:prSet presAssocID="{C8C218F0-A156-4C25-8CD7-6FFF7128297E}" presName="sibTrans" presStyleCnt="0"/>
      <dgm:spPr/>
    </dgm:pt>
    <dgm:pt modelId="{ABC4F775-470E-484C-8339-8E1402B1DA26}" type="pres">
      <dgm:prSet presAssocID="{2C52936D-D3DD-4B3F-BF1A-4A85963FD22D}" presName="compNode" presStyleCnt="0"/>
      <dgm:spPr/>
    </dgm:pt>
    <dgm:pt modelId="{16BF3B12-3DA6-4BDB-83FF-D16CF7D0B2D1}" type="pres">
      <dgm:prSet presAssocID="{2C52936D-D3DD-4B3F-BF1A-4A85963FD22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nancial"/>
        </a:ext>
      </dgm:extLst>
    </dgm:pt>
    <dgm:pt modelId="{104528D4-2EB2-4246-9FC1-1E1DFAA96B24}" type="pres">
      <dgm:prSet presAssocID="{2C52936D-D3DD-4B3F-BF1A-4A85963FD22D}" presName="spaceRect" presStyleCnt="0"/>
      <dgm:spPr/>
    </dgm:pt>
    <dgm:pt modelId="{D6DAADB2-9960-4EFE-ABDA-12C5FAA1E2F2}" type="pres">
      <dgm:prSet presAssocID="{2C52936D-D3DD-4B3F-BF1A-4A85963FD22D}" presName="textRect" presStyleLbl="revTx" presStyleIdx="1" presStyleCnt="5">
        <dgm:presLayoutVars>
          <dgm:chMax val="1"/>
          <dgm:chPref val="1"/>
        </dgm:presLayoutVars>
      </dgm:prSet>
      <dgm:spPr/>
    </dgm:pt>
    <dgm:pt modelId="{EB956FDC-2E9C-4BD9-95A7-F090673BF6CD}" type="pres">
      <dgm:prSet presAssocID="{6F748452-6F2E-4464-AD8D-7201FCC45054}" presName="sibTrans" presStyleCnt="0"/>
      <dgm:spPr/>
    </dgm:pt>
    <dgm:pt modelId="{90194B85-C3E8-4B7B-8FDE-F11867CCB57A}" type="pres">
      <dgm:prSet presAssocID="{65C034C7-8CB7-4005-834F-9661D15E5DD7}" presName="compNode" presStyleCnt="0"/>
      <dgm:spPr/>
    </dgm:pt>
    <dgm:pt modelId="{C14EA35B-ACA1-48FB-BD4B-B9042E3D74DF}" type="pres">
      <dgm:prSet presAssocID="{65C034C7-8CB7-4005-834F-9661D15E5DD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orkforce Management"/>
        </a:ext>
      </dgm:extLst>
    </dgm:pt>
    <dgm:pt modelId="{C668D87D-7B38-4B4E-B678-04116C30B833}" type="pres">
      <dgm:prSet presAssocID="{65C034C7-8CB7-4005-834F-9661D15E5DD7}" presName="spaceRect" presStyleCnt="0"/>
      <dgm:spPr/>
    </dgm:pt>
    <dgm:pt modelId="{91974C8D-6E14-4141-B739-0E2AA914738A}" type="pres">
      <dgm:prSet presAssocID="{65C034C7-8CB7-4005-834F-9661D15E5DD7}" presName="textRect" presStyleLbl="revTx" presStyleIdx="2" presStyleCnt="5">
        <dgm:presLayoutVars>
          <dgm:chMax val="1"/>
          <dgm:chPref val="1"/>
        </dgm:presLayoutVars>
      </dgm:prSet>
      <dgm:spPr/>
    </dgm:pt>
    <dgm:pt modelId="{555D19BE-3FB8-4416-A28B-FCD6974AA463}" type="pres">
      <dgm:prSet presAssocID="{8D476E64-79BD-4543-BEFA-F098D7786D80}" presName="sibTrans" presStyleCnt="0"/>
      <dgm:spPr/>
    </dgm:pt>
    <dgm:pt modelId="{332534E3-2847-4CDD-959A-71CF2D0573F9}" type="pres">
      <dgm:prSet presAssocID="{78D3EF0E-D669-4CB4-9B41-8B729B147066}" presName="compNode" presStyleCnt="0"/>
      <dgm:spPr/>
    </dgm:pt>
    <dgm:pt modelId="{84CC7DCF-1267-46E3-B727-FFFC87C2BD89}" type="pres">
      <dgm:prSet presAssocID="{78D3EF0E-D669-4CB4-9B41-8B729B14706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hop"/>
        </a:ext>
      </dgm:extLst>
    </dgm:pt>
    <dgm:pt modelId="{D0582B72-4C55-4222-A91C-CFABA8072FA3}" type="pres">
      <dgm:prSet presAssocID="{78D3EF0E-D669-4CB4-9B41-8B729B147066}" presName="spaceRect" presStyleCnt="0"/>
      <dgm:spPr/>
    </dgm:pt>
    <dgm:pt modelId="{86207FCD-4093-4736-88B5-4F6A8AF98284}" type="pres">
      <dgm:prSet presAssocID="{78D3EF0E-D669-4CB4-9B41-8B729B147066}" presName="textRect" presStyleLbl="revTx" presStyleIdx="3" presStyleCnt="5">
        <dgm:presLayoutVars>
          <dgm:chMax val="1"/>
          <dgm:chPref val="1"/>
        </dgm:presLayoutVars>
      </dgm:prSet>
      <dgm:spPr/>
    </dgm:pt>
    <dgm:pt modelId="{DAB0E4BC-A87F-431C-8A4F-C194C48D0D92}" type="pres">
      <dgm:prSet presAssocID="{0E39BD43-54F8-413B-B196-4518D20E01C0}" presName="sibTrans" presStyleCnt="0"/>
      <dgm:spPr/>
    </dgm:pt>
    <dgm:pt modelId="{0FE855B6-AB57-4EC3-ABDE-ED0CF9A38E2F}" type="pres">
      <dgm:prSet presAssocID="{75FD37E5-6496-41BC-82CA-68E7A31D8B2E}" presName="compNode" presStyleCnt="0"/>
      <dgm:spPr/>
    </dgm:pt>
    <dgm:pt modelId="{4C205F5F-CBCA-4797-BD9C-21D8568355C4}" type="pres">
      <dgm:prSet presAssocID="{75FD37E5-6496-41BC-82CA-68E7A31D8B2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Relationship"/>
        </a:ext>
      </dgm:extLst>
    </dgm:pt>
    <dgm:pt modelId="{5D3F8627-14B3-4CA0-BA05-EB1FBDA49BD6}" type="pres">
      <dgm:prSet presAssocID="{75FD37E5-6496-41BC-82CA-68E7A31D8B2E}" presName="spaceRect" presStyleCnt="0"/>
      <dgm:spPr/>
    </dgm:pt>
    <dgm:pt modelId="{2B91765D-E2CE-4846-B2AE-870B678583BF}" type="pres">
      <dgm:prSet presAssocID="{75FD37E5-6496-41BC-82CA-68E7A31D8B2E}" presName="textRect" presStyleLbl="revTx" presStyleIdx="4" presStyleCnt="5">
        <dgm:presLayoutVars>
          <dgm:chMax val="1"/>
          <dgm:chPref val="1"/>
        </dgm:presLayoutVars>
      </dgm:prSet>
      <dgm:spPr/>
    </dgm:pt>
  </dgm:ptLst>
  <dgm:cxnLst>
    <dgm:cxn modelId="{23789319-56E1-4727-9636-CCEFEEFB2915}" srcId="{FF500E25-CA40-4F90-A706-16A9CC48FD4A}" destId="{75FD37E5-6496-41BC-82CA-68E7A31D8B2E}" srcOrd="4" destOrd="0" parTransId="{1642D477-5E34-443F-A356-E0E7E4787535}" sibTransId="{CEBD2743-5B78-4E58-966F-AD0164612F9C}"/>
    <dgm:cxn modelId="{31019822-60BD-469C-AEB8-9D424E741348}" srcId="{FF500E25-CA40-4F90-A706-16A9CC48FD4A}" destId="{2C52936D-D3DD-4B3F-BF1A-4A85963FD22D}" srcOrd="1" destOrd="0" parTransId="{072337E4-71E7-4F5C-B686-CF8C33772668}" sibTransId="{6F748452-6F2E-4464-AD8D-7201FCC45054}"/>
    <dgm:cxn modelId="{1C492534-BCEF-488A-99E0-4EE39C101900}" type="presOf" srcId="{B3A16690-F89D-4025-9C9F-8002BF64B4A7}" destId="{48FBD14C-01FA-4A91-B7FE-1D2CAC263606}" srcOrd="0" destOrd="0" presId="urn:microsoft.com/office/officeart/2018/2/layout/IconLabelList"/>
    <dgm:cxn modelId="{CA72173A-B2EF-4645-88A0-80619383DB21}" srcId="{FF500E25-CA40-4F90-A706-16A9CC48FD4A}" destId="{78D3EF0E-D669-4CB4-9B41-8B729B147066}" srcOrd="3" destOrd="0" parTransId="{35CB2E50-9131-416F-A9E9-D8A3EDFA6668}" sibTransId="{0E39BD43-54F8-413B-B196-4518D20E01C0}"/>
    <dgm:cxn modelId="{DDCA716B-1AAA-4C98-B36B-ACAA1B40681B}" type="presOf" srcId="{2C52936D-D3DD-4B3F-BF1A-4A85963FD22D}" destId="{D6DAADB2-9960-4EFE-ABDA-12C5FAA1E2F2}" srcOrd="0" destOrd="0" presId="urn:microsoft.com/office/officeart/2018/2/layout/IconLabelList"/>
    <dgm:cxn modelId="{E378B48A-9FF9-4B59-B3DB-84DD69EA91E8}" srcId="{FF500E25-CA40-4F90-A706-16A9CC48FD4A}" destId="{65C034C7-8CB7-4005-834F-9661D15E5DD7}" srcOrd="2" destOrd="0" parTransId="{C75E9A41-B9AD-4EFA-B201-B2AE0E1D39BC}" sibTransId="{8D476E64-79BD-4543-BEFA-F098D7786D80}"/>
    <dgm:cxn modelId="{C34F9CAE-3F55-4403-948A-E4080794B721}" type="presOf" srcId="{78D3EF0E-D669-4CB4-9B41-8B729B147066}" destId="{86207FCD-4093-4736-88B5-4F6A8AF98284}" srcOrd="0" destOrd="0" presId="urn:microsoft.com/office/officeart/2018/2/layout/IconLabelList"/>
    <dgm:cxn modelId="{690161B9-063D-4B5A-959F-073C00FB50BD}" type="presOf" srcId="{75FD37E5-6496-41BC-82CA-68E7A31D8B2E}" destId="{2B91765D-E2CE-4846-B2AE-870B678583BF}" srcOrd="0" destOrd="0" presId="urn:microsoft.com/office/officeart/2018/2/layout/IconLabelList"/>
    <dgm:cxn modelId="{384A2ABF-CADB-4D58-BBB6-EA4AC6A02D4D}" type="presOf" srcId="{FF500E25-CA40-4F90-A706-16A9CC48FD4A}" destId="{5D86AB12-62AE-4A32-BA41-D3D4E2DB320B}" srcOrd="0" destOrd="0" presId="urn:microsoft.com/office/officeart/2018/2/layout/IconLabelList"/>
    <dgm:cxn modelId="{950049E5-870D-4114-977F-DBA0CCA8FC26}" srcId="{FF500E25-CA40-4F90-A706-16A9CC48FD4A}" destId="{B3A16690-F89D-4025-9C9F-8002BF64B4A7}" srcOrd="0" destOrd="0" parTransId="{67C8C77E-7F7D-4C4A-8248-D2ED48D38E82}" sibTransId="{C8C218F0-A156-4C25-8CD7-6FFF7128297E}"/>
    <dgm:cxn modelId="{4F30F8E7-DBBF-432E-B3C1-DDEB2B652497}" type="presOf" srcId="{65C034C7-8CB7-4005-834F-9661D15E5DD7}" destId="{91974C8D-6E14-4141-B739-0E2AA914738A}" srcOrd="0" destOrd="0" presId="urn:microsoft.com/office/officeart/2018/2/layout/IconLabelList"/>
    <dgm:cxn modelId="{068977A0-EDCD-4951-AADC-B6A8AD7FFA27}" type="presParOf" srcId="{5D86AB12-62AE-4A32-BA41-D3D4E2DB320B}" destId="{050543D8-F100-4401-A3BA-D4BEF7689039}" srcOrd="0" destOrd="0" presId="urn:microsoft.com/office/officeart/2018/2/layout/IconLabelList"/>
    <dgm:cxn modelId="{8B3C7523-3DAE-40B7-B69D-63C464CC583E}" type="presParOf" srcId="{050543D8-F100-4401-A3BA-D4BEF7689039}" destId="{3C599F18-3661-43C4-BF2F-3EA0BDAA1625}" srcOrd="0" destOrd="0" presId="urn:microsoft.com/office/officeart/2018/2/layout/IconLabelList"/>
    <dgm:cxn modelId="{145EC3FB-78E3-494B-8198-F1696FDD21B0}" type="presParOf" srcId="{050543D8-F100-4401-A3BA-D4BEF7689039}" destId="{3055F469-26D6-4504-A89B-0F86FE1C31BF}" srcOrd="1" destOrd="0" presId="urn:microsoft.com/office/officeart/2018/2/layout/IconLabelList"/>
    <dgm:cxn modelId="{B152E86A-8BB6-4119-BF1D-51C275045B33}" type="presParOf" srcId="{050543D8-F100-4401-A3BA-D4BEF7689039}" destId="{48FBD14C-01FA-4A91-B7FE-1D2CAC263606}" srcOrd="2" destOrd="0" presId="urn:microsoft.com/office/officeart/2018/2/layout/IconLabelList"/>
    <dgm:cxn modelId="{84AD5B45-695F-4E26-85B1-4FBC49F685E8}" type="presParOf" srcId="{5D86AB12-62AE-4A32-BA41-D3D4E2DB320B}" destId="{C4943A92-558A-451C-8160-24326E7E6F57}" srcOrd="1" destOrd="0" presId="urn:microsoft.com/office/officeart/2018/2/layout/IconLabelList"/>
    <dgm:cxn modelId="{67BB1440-D8B2-4971-A28D-36C35EF6E4F2}" type="presParOf" srcId="{5D86AB12-62AE-4A32-BA41-D3D4E2DB320B}" destId="{ABC4F775-470E-484C-8339-8E1402B1DA26}" srcOrd="2" destOrd="0" presId="urn:microsoft.com/office/officeart/2018/2/layout/IconLabelList"/>
    <dgm:cxn modelId="{300A336F-643D-4136-87C4-798E832FF309}" type="presParOf" srcId="{ABC4F775-470E-484C-8339-8E1402B1DA26}" destId="{16BF3B12-3DA6-4BDB-83FF-D16CF7D0B2D1}" srcOrd="0" destOrd="0" presId="urn:microsoft.com/office/officeart/2018/2/layout/IconLabelList"/>
    <dgm:cxn modelId="{E935B9E6-A632-4425-9A49-8194F90B32CA}" type="presParOf" srcId="{ABC4F775-470E-484C-8339-8E1402B1DA26}" destId="{104528D4-2EB2-4246-9FC1-1E1DFAA96B24}" srcOrd="1" destOrd="0" presId="urn:microsoft.com/office/officeart/2018/2/layout/IconLabelList"/>
    <dgm:cxn modelId="{B938D4A5-B459-462D-95AB-92BD52F6E8B2}" type="presParOf" srcId="{ABC4F775-470E-484C-8339-8E1402B1DA26}" destId="{D6DAADB2-9960-4EFE-ABDA-12C5FAA1E2F2}" srcOrd="2" destOrd="0" presId="urn:microsoft.com/office/officeart/2018/2/layout/IconLabelList"/>
    <dgm:cxn modelId="{2C5C02F3-AABD-46E8-A956-3EC8D9A47444}" type="presParOf" srcId="{5D86AB12-62AE-4A32-BA41-D3D4E2DB320B}" destId="{EB956FDC-2E9C-4BD9-95A7-F090673BF6CD}" srcOrd="3" destOrd="0" presId="urn:microsoft.com/office/officeart/2018/2/layout/IconLabelList"/>
    <dgm:cxn modelId="{FB8B8DB8-3C4E-4C78-B52B-327788C1D92D}" type="presParOf" srcId="{5D86AB12-62AE-4A32-BA41-D3D4E2DB320B}" destId="{90194B85-C3E8-4B7B-8FDE-F11867CCB57A}" srcOrd="4" destOrd="0" presId="urn:microsoft.com/office/officeart/2018/2/layout/IconLabelList"/>
    <dgm:cxn modelId="{F6F9C042-0400-406F-B803-339D7E2A3502}" type="presParOf" srcId="{90194B85-C3E8-4B7B-8FDE-F11867CCB57A}" destId="{C14EA35B-ACA1-48FB-BD4B-B9042E3D74DF}" srcOrd="0" destOrd="0" presId="urn:microsoft.com/office/officeart/2018/2/layout/IconLabelList"/>
    <dgm:cxn modelId="{133BF05F-F64C-449C-94AC-A4A5A42A5948}" type="presParOf" srcId="{90194B85-C3E8-4B7B-8FDE-F11867CCB57A}" destId="{C668D87D-7B38-4B4E-B678-04116C30B833}" srcOrd="1" destOrd="0" presId="urn:microsoft.com/office/officeart/2018/2/layout/IconLabelList"/>
    <dgm:cxn modelId="{46141D41-C98B-495D-BFBF-231C86526BCB}" type="presParOf" srcId="{90194B85-C3E8-4B7B-8FDE-F11867CCB57A}" destId="{91974C8D-6E14-4141-B739-0E2AA914738A}" srcOrd="2" destOrd="0" presId="urn:microsoft.com/office/officeart/2018/2/layout/IconLabelList"/>
    <dgm:cxn modelId="{8564BD3D-B003-4EB5-931D-43B331DC8FCB}" type="presParOf" srcId="{5D86AB12-62AE-4A32-BA41-D3D4E2DB320B}" destId="{555D19BE-3FB8-4416-A28B-FCD6974AA463}" srcOrd="5" destOrd="0" presId="urn:microsoft.com/office/officeart/2018/2/layout/IconLabelList"/>
    <dgm:cxn modelId="{D121D220-73BC-47B3-8258-95F6B9B39469}" type="presParOf" srcId="{5D86AB12-62AE-4A32-BA41-D3D4E2DB320B}" destId="{332534E3-2847-4CDD-959A-71CF2D0573F9}" srcOrd="6" destOrd="0" presId="urn:microsoft.com/office/officeart/2018/2/layout/IconLabelList"/>
    <dgm:cxn modelId="{7AE48C6E-CEEB-4259-ACA0-CCA237736638}" type="presParOf" srcId="{332534E3-2847-4CDD-959A-71CF2D0573F9}" destId="{84CC7DCF-1267-46E3-B727-FFFC87C2BD89}" srcOrd="0" destOrd="0" presId="urn:microsoft.com/office/officeart/2018/2/layout/IconLabelList"/>
    <dgm:cxn modelId="{8394FA5A-A3F5-4D1B-9EA7-639F3E3E98D0}" type="presParOf" srcId="{332534E3-2847-4CDD-959A-71CF2D0573F9}" destId="{D0582B72-4C55-4222-A91C-CFABA8072FA3}" srcOrd="1" destOrd="0" presId="urn:microsoft.com/office/officeart/2018/2/layout/IconLabelList"/>
    <dgm:cxn modelId="{723A2DFC-66D0-48F6-8BC7-CF3DADC463DD}" type="presParOf" srcId="{332534E3-2847-4CDD-959A-71CF2D0573F9}" destId="{86207FCD-4093-4736-88B5-4F6A8AF98284}" srcOrd="2" destOrd="0" presId="urn:microsoft.com/office/officeart/2018/2/layout/IconLabelList"/>
    <dgm:cxn modelId="{DB6B1189-53DA-4F2D-ADF8-D519341868D3}" type="presParOf" srcId="{5D86AB12-62AE-4A32-BA41-D3D4E2DB320B}" destId="{DAB0E4BC-A87F-431C-8A4F-C194C48D0D92}" srcOrd="7" destOrd="0" presId="urn:microsoft.com/office/officeart/2018/2/layout/IconLabelList"/>
    <dgm:cxn modelId="{4655B9F4-E7EB-4BD8-A2E2-6AF505F345D5}" type="presParOf" srcId="{5D86AB12-62AE-4A32-BA41-D3D4E2DB320B}" destId="{0FE855B6-AB57-4EC3-ABDE-ED0CF9A38E2F}" srcOrd="8" destOrd="0" presId="urn:microsoft.com/office/officeart/2018/2/layout/IconLabelList"/>
    <dgm:cxn modelId="{D96B5B43-039A-45AE-B4FB-329E1376B33D}" type="presParOf" srcId="{0FE855B6-AB57-4EC3-ABDE-ED0CF9A38E2F}" destId="{4C205F5F-CBCA-4797-BD9C-21D8568355C4}" srcOrd="0" destOrd="0" presId="urn:microsoft.com/office/officeart/2018/2/layout/IconLabelList"/>
    <dgm:cxn modelId="{63C0BA5D-8B4E-4B29-A23F-7D7EFE8D7B3E}" type="presParOf" srcId="{0FE855B6-AB57-4EC3-ABDE-ED0CF9A38E2F}" destId="{5D3F8627-14B3-4CA0-BA05-EB1FBDA49BD6}" srcOrd="1" destOrd="0" presId="urn:microsoft.com/office/officeart/2018/2/layout/IconLabelList"/>
    <dgm:cxn modelId="{19416A8B-2045-4110-A7CC-B1095C768047}" type="presParOf" srcId="{0FE855B6-AB57-4EC3-ABDE-ED0CF9A38E2F}" destId="{2B91765D-E2CE-4846-B2AE-870B678583B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814BE0-51D6-574C-BE51-39E81445A3D3}">
      <dsp:nvSpPr>
        <dsp:cNvPr id="0" name=""/>
        <dsp:cNvSpPr/>
      </dsp:nvSpPr>
      <dsp:spPr>
        <a:xfrm>
          <a:off x="0" y="111929"/>
          <a:ext cx="7728267" cy="887445"/>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Lower labor force participation</a:t>
          </a:r>
        </a:p>
      </dsp:txBody>
      <dsp:txXfrm>
        <a:off x="43321" y="155250"/>
        <a:ext cx="7641625" cy="800803"/>
      </dsp:txXfrm>
    </dsp:sp>
    <dsp:sp modelId="{CC590ACD-0B73-C247-AE5C-D1F6469F6F63}">
      <dsp:nvSpPr>
        <dsp:cNvPr id="0" name=""/>
        <dsp:cNvSpPr/>
      </dsp:nvSpPr>
      <dsp:spPr>
        <a:xfrm>
          <a:off x="0" y="1105934"/>
          <a:ext cx="7728267" cy="887445"/>
        </a:xfrm>
        <a:prstGeom prst="roundRect">
          <a:avLst/>
        </a:prstGeom>
        <a:solidFill>
          <a:schemeClr val="accent2">
            <a:hueOff val="488613"/>
            <a:satOff val="-7883"/>
            <a:lumOff val="-1373"/>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Widening income inequality</a:t>
          </a:r>
        </a:p>
      </dsp:txBody>
      <dsp:txXfrm>
        <a:off x="43321" y="1149255"/>
        <a:ext cx="7641625" cy="800803"/>
      </dsp:txXfrm>
    </dsp:sp>
    <dsp:sp modelId="{CB607FBA-E187-0A4C-B39D-551DD22F07E2}">
      <dsp:nvSpPr>
        <dsp:cNvPr id="0" name=""/>
        <dsp:cNvSpPr/>
      </dsp:nvSpPr>
      <dsp:spPr>
        <a:xfrm>
          <a:off x="0" y="2099939"/>
          <a:ext cx="7728267" cy="887445"/>
        </a:xfrm>
        <a:prstGeom prst="roundRect">
          <a:avLst/>
        </a:prstGeom>
        <a:solidFill>
          <a:schemeClr val="accent2">
            <a:hueOff val="977227"/>
            <a:satOff val="-15767"/>
            <a:lumOff val="-2745"/>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Higher public expenditures elsewhere</a:t>
          </a:r>
        </a:p>
      </dsp:txBody>
      <dsp:txXfrm>
        <a:off x="43321" y="2143260"/>
        <a:ext cx="7641625" cy="800803"/>
      </dsp:txXfrm>
    </dsp:sp>
    <dsp:sp modelId="{749C3B46-D762-F541-B258-E3E53E9D119B}">
      <dsp:nvSpPr>
        <dsp:cNvPr id="0" name=""/>
        <dsp:cNvSpPr/>
      </dsp:nvSpPr>
      <dsp:spPr>
        <a:xfrm>
          <a:off x="0" y="3093944"/>
          <a:ext cx="7728267" cy="887445"/>
        </a:xfrm>
        <a:prstGeom prst="roundRect">
          <a:avLst/>
        </a:prstGeom>
        <a:solidFill>
          <a:schemeClr val="accent2">
            <a:hueOff val="1465840"/>
            <a:satOff val="-23650"/>
            <a:lumOff val="-4118"/>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Reduced consumer spending</a:t>
          </a:r>
        </a:p>
      </dsp:txBody>
      <dsp:txXfrm>
        <a:off x="43321" y="3137265"/>
        <a:ext cx="7641625" cy="800803"/>
      </dsp:txXfrm>
    </dsp:sp>
    <dsp:sp modelId="{1C6EA8CC-7025-1D4E-9F6C-F5D72FBD89C3}">
      <dsp:nvSpPr>
        <dsp:cNvPr id="0" name=""/>
        <dsp:cNvSpPr/>
      </dsp:nvSpPr>
      <dsp:spPr>
        <a:xfrm>
          <a:off x="0" y="4087949"/>
          <a:ext cx="7728267" cy="887445"/>
        </a:xfrm>
        <a:prstGeom prst="roundRect">
          <a:avLst/>
        </a:prstGeom>
        <a:solidFill>
          <a:schemeClr val="accent2">
            <a:hueOff val="1954454"/>
            <a:satOff val="-31534"/>
            <a:lumOff val="-549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Increased employer-side costs</a:t>
          </a:r>
        </a:p>
      </dsp:txBody>
      <dsp:txXfrm>
        <a:off x="43321" y="4131270"/>
        <a:ext cx="7641625" cy="800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535A6-556A-2D4B-B939-576A0A48117C}">
      <dsp:nvSpPr>
        <dsp:cNvPr id="0" name=""/>
        <dsp:cNvSpPr/>
      </dsp:nvSpPr>
      <dsp:spPr>
        <a:xfrm>
          <a:off x="0" y="46206"/>
          <a:ext cx="7728267" cy="911430"/>
        </a:xfrm>
        <a:prstGeom prst="roundRect">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Stunted child development</a:t>
          </a:r>
        </a:p>
      </dsp:txBody>
      <dsp:txXfrm>
        <a:off x="44492" y="90698"/>
        <a:ext cx="7639283" cy="822446"/>
      </dsp:txXfrm>
    </dsp:sp>
    <dsp:sp modelId="{24E55DAB-A684-E24C-8B24-76BABE21F1E6}">
      <dsp:nvSpPr>
        <dsp:cNvPr id="0" name=""/>
        <dsp:cNvSpPr/>
      </dsp:nvSpPr>
      <dsp:spPr>
        <a:xfrm>
          <a:off x="0" y="1067077"/>
          <a:ext cx="7728267" cy="911430"/>
        </a:xfrm>
        <a:prstGeom prst="roundRect">
          <a:avLst/>
        </a:prstGeom>
        <a:solidFill>
          <a:schemeClr val="accent5">
            <a:hueOff val="2794580"/>
            <a:satOff val="-2409"/>
            <a:lumOff val="3187"/>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Entrenched gender disparities</a:t>
          </a:r>
        </a:p>
      </dsp:txBody>
      <dsp:txXfrm>
        <a:off x="44492" y="1111569"/>
        <a:ext cx="7639283" cy="822446"/>
      </dsp:txXfrm>
    </dsp:sp>
    <dsp:sp modelId="{9AC70694-60E6-1940-9DD4-A8263230BDA0}">
      <dsp:nvSpPr>
        <dsp:cNvPr id="0" name=""/>
        <dsp:cNvSpPr/>
      </dsp:nvSpPr>
      <dsp:spPr>
        <a:xfrm>
          <a:off x="0" y="2087947"/>
          <a:ext cx="7728267" cy="911430"/>
        </a:xfrm>
        <a:prstGeom prst="roundRect">
          <a:avLst/>
        </a:prstGeom>
        <a:solidFill>
          <a:schemeClr val="accent5">
            <a:hueOff val="5589159"/>
            <a:satOff val="-4817"/>
            <a:lumOff val="6373"/>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Higher poverty rates</a:t>
          </a:r>
        </a:p>
      </dsp:txBody>
      <dsp:txXfrm>
        <a:off x="44492" y="2132439"/>
        <a:ext cx="7639283" cy="822446"/>
      </dsp:txXfrm>
    </dsp:sp>
    <dsp:sp modelId="{76B82021-873F-5244-B36A-D7D32C66C1AA}">
      <dsp:nvSpPr>
        <dsp:cNvPr id="0" name=""/>
        <dsp:cNvSpPr/>
      </dsp:nvSpPr>
      <dsp:spPr>
        <a:xfrm>
          <a:off x="0" y="3108817"/>
          <a:ext cx="7728267" cy="911430"/>
        </a:xfrm>
        <a:prstGeom prst="roundRect">
          <a:avLst/>
        </a:prstGeom>
        <a:solidFill>
          <a:schemeClr val="accent5">
            <a:hueOff val="8383739"/>
            <a:satOff val="-7226"/>
            <a:lumOff val="956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Caregiver burnout and stress</a:t>
          </a:r>
        </a:p>
      </dsp:txBody>
      <dsp:txXfrm>
        <a:off x="44492" y="3153309"/>
        <a:ext cx="7639283" cy="822446"/>
      </dsp:txXfrm>
    </dsp:sp>
    <dsp:sp modelId="{B52E837B-6C4C-644F-80E8-8CD63B9B4943}">
      <dsp:nvSpPr>
        <dsp:cNvPr id="0" name=""/>
        <dsp:cNvSpPr/>
      </dsp:nvSpPr>
      <dsp:spPr>
        <a:xfrm>
          <a:off x="0" y="4129687"/>
          <a:ext cx="7728267" cy="911430"/>
        </a:xfrm>
        <a:prstGeom prst="roundRect">
          <a:avLst/>
        </a:prstGeom>
        <a:solidFill>
          <a:schemeClr val="accent5">
            <a:hueOff val="11178319"/>
            <a:satOff val="-9634"/>
            <a:lumOff val="12746"/>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Weaker social cohesion</a:t>
          </a:r>
        </a:p>
      </dsp:txBody>
      <dsp:txXfrm>
        <a:off x="44492" y="4174179"/>
        <a:ext cx="7639283" cy="8224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599F18-3661-43C4-BF2F-3EA0BDAA1625}">
      <dsp:nvSpPr>
        <dsp:cNvPr id="0" name=""/>
        <dsp:cNvSpPr/>
      </dsp:nvSpPr>
      <dsp:spPr>
        <a:xfrm>
          <a:off x="1137599" y="498081"/>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FBD14C-01FA-4A91-B7FE-1D2CAC263606}">
      <dsp:nvSpPr>
        <dsp:cNvPr id="0" name=""/>
        <dsp:cNvSpPr/>
      </dsp:nvSpPr>
      <dsp:spPr>
        <a:xfrm>
          <a:off x="642599" y="161532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Higher labor force participation</a:t>
          </a:r>
        </a:p>
      </dsp:txBody>
      <dsp:txXfrm>
        <a:off x="642599" y="1615320"/>
        <a:ext cx="1800000" cy="720000"/>
      </dsp:txXfrm>
    </dsp:sp>
    <dsp:sp modelId="{16BF3B12-3DA6-4BDB-83FF-D16CF7D0B2D1}">
      <dsp:nvSpPr>
        <dsp:cNvPr id="0" name=""/>
        <dsp:cNvSpPr/>
      </dsp:nvSpPr>
      <dsp:spPr>
        <a:xfrm>
          <a:off x="3252599" y="498081"/>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DAADB2-9960-4EFE-ABDA-12C5FAA1E2F2}">
      <dsp:nvSpPr>
        <dsp:cNvPr id="0" name=""/>
        <dsp:cNvSpPr/>
      </dsp:nvSpPr>
      <dsp:spPr>
        <a:xfrm>
          <a:off x="2757599" y="161532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Increased earnings and tax revenue</a:t>
          </a:r>
        </a:p>
      </dsp:txBody>
      <dsp:txXfrm>
        <a:off x="2757599" y="1615320"/>
        <a:ext cx="1800000" cy="720000"/>
      </dsp:txXfrm>
    </dsp:sp>
    <dsp:sp modelId="{C14EA35B-ACA1-48FB-BD4B-B9042E3D74DF}">
      <dsp:nvSpPr>
        <dsp:cNvPr id="0" name=""/>
        <dsp:cNvSpPr/>
      </dsp:nvSpPr>
      <dsp:spPr>
        <a:xfrm>
          <a:off x="5367600" y="498081"/>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974C8D-6E14-4141-B739-0E2AA914738A}">
      <dsp:nvSpPr>
        <dsp:cNvPr id="0" name=""/>
        <dsp:cNvSpPr/>
      </dsp:nvSpPr>
      <dsp:spPr>
        <a:xfrm>
          <a:off x="4872600" y="161532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Reduced employer costs</a:t>
          </a:r>
        </a:p>
      </dsp:txBody>
      <dsp:txXfrm>
        <a:off x="4872600" y="1615320"/>
        <a:ext cx="1800000" cy="720000"/>
      </dsp:txXfrm>
    </dsp:sp>
    <dsp:sp modelId="{84CC7DCF-1267-46E3-B727-FFFC87C2BD89}">
      <dsp:nvSpPr>
        <dsp:cNvPr id="0" name=""/>
        <dsp:cNvSpPr/>
      </dsp:nvSpPr>
      <dsp:spPr>
        <a:xfrm>
          <a:off x="2195099" y="2785320"/>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207FCD-4093-4736-88B5-4F6A8AF98284}">
      <dsp:nvSpPr>
        <dsp:cNvPr id="0" name=""/>
        <dsp:cNvSpPr/>
      </dsp:nvSpPr>
      <dsp:spPr>
        <a:xfrm>
          <a:off x="1700099" y="390255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Stimulated consumer spending</a:t>
          </a:r>
        </a:p>
      </dsp:txBody>
      <dsp:txXfrm>
        <a:off x="1700099" y="3902558"/>
        <a:ext cx="1800000" cy="720000"/>
      </dsp:txXfrm>
    </dsp:sp>
    <dsp:sp modelId="{4C205F5F-CBCA-4797-BD9C-21D8568355C4}">
      <dsp:nvSpPr>
        <dsp:cNvPr id="0" name=""/>
        <dsp:cNvSpPr/>
      </dsp:nvSpPr>
      <dsp:spPr>
        <a:xfrm>
          <a:off x="4310100" y="2785320"/>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91765D-E2CE-4846-B2AE-870B678583BF}">
      <dsp:nvSpPr>
        <dsp:cNvPr id="0" name=""/>
        <dsp:cNvSpPr/>
      </dsp:nvSpPr>
      <dsp:spPr>
        <a:xfrm>
          <a:off x="3815100" y="390255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Poverty reduction</a:t>
          </a:r>
        </a:p>
      </dsp:txBody>
      <dsp:txXfrm>
        <a:off x="3815100" y="3902558"/>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1D92FC-3BE2-21FA-17E0-EBD3ACA392B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AD45533-53CD-4B33-3B90-1998763751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92553C-3133-FE41-A67F-6B255B6CBB58}" type="datetimeFigureOut">
              <a:rPr lang="en-US" smtClean="0"/>
              <a:t>4/21/25</a:t>
            </a:fld>
            <a:endParaRPr lang="en-US"/>
          </a:p>
        </p:txBody>
      </p:sp>
      <p:sp>
        <p:nvSpPr>
          <p:cNvPr id="4" name="Footer Placeholder 3">
            <a:extLst>
              <a:ext uri="{FF2B5EF4-FFF2-40B4-BE49-F238E27FC236}">
                <a16:creationId xmlns:a16="http://schemas.microsoft.com/office/drawing/2014/main" id="{031B1B08-EABE-DDB5-FC17-7DDC55B2E2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4361A43-8BA4-A2EC-F1D0-2A946A2801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D980D2-F939-C342-A39F-01AC9863698B}" type="slidenum">
              <a:rPr lang="en-US" smtClean="0"/>
              <a:t>‹#›</a:t>
            </a:fld>
            <a:endParaRPr lang="en-US"/>
          </a:p>
        </p:txBody>
      </p:sp>
    </p:spTree>
    <p:extLst>
      <p:ext uri="{BB962C8B-B14F-4D97-AF65-F5344CB8AC3E}">
        <p14:creationId xmlns:p14="http://schemas.microsoft.com/office/powerpoint/2010/main" val="4112688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B162B4-D4FB-264F-9707-CDC8410D46BC}" type="datetimeFigureOut">
              <a:rPr lang="en-US" smtClean="0"/>
              <a:t>4/21/25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0D5641-103C-3743-827E-EBDBBCD8BF31}" type="slidenum">
              <a:rPr lang="en-US" smtClean="0"/>
              <a:t>‹#›</a:t>
            </a:fld>
            <a:endParaRPr lang="en-US"/>
          </a:p>
        </p:txBody>
      </p:sp>
    </p:spTree>
    <p:extLst>
      <p:ext uri="{BB962C8B-B14F-4D97-AF65-F5344CB8AC3E}">
        <p14:creationId xmlns:p14="http://schemas.microsoft.com/office/powerpoint/2010/main" val="963267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Good [morning/afternoon], everyone. Thank you for being here. I’m Emily Picinich, and today I’m going to make the case for expanding the Child and Dependent Care Credit—why it’s not only a lifeline for working families, but a strategic investment in our economy and our children’s future. Over the next few minutes, I’ll show you where we are today, what the data tell us about unmet need, and how targeted changes to this credit can deliver real benefits—for parents, for businesses, and for society at large.</a:t>
            </a:r>
            <a:endParaRPr lang="en-US" dirty="0"/>
          </a:p>
        </p:txBody>
      </p:sp>
      <p:sp>
        <p:nvSpPr>
          <p:cNvPr id="4" name="Slide Number Placeholder 3"/>
          <p:cNvSpPr>
            <a:spLocks noGrp="1"/>
          </p:cNvSpPr>
          <p:nvPr>
            <p:ph type="sldNum" sz="quarter" idx="5"/>
          </p:nvPr>
        </p:nvSpPr>
        <p:spPr/>
        <p:txBody>
          <a:bodyPr/>
          <a:lstStyle/>
          <a:p>
            <a:fld id="{3B0D5641-103C-3743-827E-EBDBBCD8BF31}" type="slidenum">
              <a:rPr lang="en-US" smtClean="0"/>
              <a:t>1</a:t>
            </a:fld>
            <a:endParaRPr lang="en-US"/>
          </a:p>
        </p:txBody>
      </p:sp>
    </p:spTree>
    <p:extLst>
      <p:ext uri="{BB962C8B-B14F-4D97-AF65-F5344CB8AC3E}">
        <p14:creationId xmlns:p14="http://schemas.microsoft.com/office/powerpoint/2010/main" val="2722555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This is where the need for childcare really comes into focus: experts advise that a child under age 12 or 13 shouldn’t be left home alone, which means every one of those 46.6 million U.S. kids under 12 needs some form of supervised care. That’s nearly one in seven Americans who rely on daycare centers, family caregivers, or other arrangements every day—and it helps explain why any tweak to the Child and Dependent Care Credit can have such a broad impact on families’ lives and the economy.</a:t>
            </a:r>
            <a:endParaRPr lang="en-US" dirty="0"/>
          </a:p>
        </p:txBody>
      </p:sp>
      <p:sp>
        <p:nvSpPr>
          <p:cNvPr id="4" name="Slide Number Placeholder 3"/>
          <p:cNvSpPr>
            <a:spLocks noGrp="1"/>
          </p:cNvSpPr>
          <p:nvPr>
            <p:ph type="sldNum" sz="quarter" idx="5"/>
          </p:nvPr>
        </p:nvSpPr>
        <p:spPr/>
        <p:txBody>
          <a:bodyPr/>
          <a:lstStyle/>
          <a:p>
            <a:fld id="{3B0D5641-103C-3743-827E-EBDBBCD8BF31}" type="slidenum">
              <a:rPr lang="en-US" smtClean="0"/>
              <a:t>2</a:t>
            </a:fld>
            <a:endParaRPr lang="en-US"/>
          </a:p>
        </p:txBody>
      </p:sp>
    </p:spTree>
    <p:extLst>
      <p:ext uri="{BB962C8B-B14F-4D97-AF65-F5344CB8AC3E}">
        <p14:creationId xmlns:p14="http://schemas.microsoft.com/office/powerpoint/2010/main" val="1674992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Skyrocketing expenses:</a:t>
            </a:r>
            <a:r>
              <a:rPr lang="en-US" dirty="0"/>
              <a:t> </a:t>
            </a:r>
            <a:r>
              <a:rPr lang="en-US" b="0" i="0" u="none" strike="noStrike" dirty="0">
                <a:solidFill>
                  <a:srgbClr val="000000"/>
                </a:solidFill>
                <a:effectLst/>
                <a:latin typeface="-webkit-standard"/>
              </a:rPr>
              <a:t>Across the U.S., the rising cost of childcare has become a major financial burden for families. </a:t>
            </a:r>
            <a:r>
              <a:rPr lang="en-US" dirty="0"/>
              <a:t>Childcare costs in the U.S. have risen sharply, often matching or exceeding rent or mortgage expenses.</a:t>
            </a:r>
          </a:p>
        </p:txBody>
      </p:sp>
      <p:sp>
        <p:nvSpPr>
          <p:cNvPr id="4" name="Slide Number Placeholder 3"/>
          <p:cNvSpPr>
            <a:spLocks noGrp="1"/>
          </p:cNvSpPr>
          <p:nvPr>
            <p:ph type="sldNum" sz="quarter" idx="5"/>
          </p:nvPr>
        </p:nvSpPr>
        <p:spPr/>
        <p:txBody>
          <a:bodyPr/>
          <a:lstStyle/>
          <a:p>
            <a:fld id="{3B0D5641-103C-3743-827E-EBDBBCD8BF31}" type="slidenum">
              <a:rPr lang="en-US" smtClean="0"/>
              <a:t>3</a:t>
            </a:fld>
            <a:endParaRPr lang="en-US"/>
          </a:p>
        </p:txBody>
      </p:sp>
    </p:spTree>
    <p:extLst>
      <p:ext uri="{BB962C8B-B14F-4D97-AF65-F5344CB8AC3E}">
        <p14:creationId xmlns:p14="http://schemas.microsoft.com/office/powerpoint/2010/main" val="4262911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u="none" strike="noStrike" dirty="0">
                <a:solidFill>
                  <a:srgbClr val="000000"/>
                </a:solidFill>
                <a:effectLst/>
              </a:rPr>
              <a:t>This chart shows how the average annual cost of center‑based (blue) and home‑based (orange) care have climbed from 2008 through 2022. Both lines slope steadily upward—but look at the steepening rise after 2016, and then the pronounced jump around 2021–22. Center‑based care went from about $5.9 K in ’08 to over $8.2 K in ’22—a nearly 40 percent increase—while home‑based care rose from $5 K to $7.1 K (over 40 percent).</a:t>
            </a:r>
          </a:p>
          <a:p>
            <a:pPr algn="l"/>
            <a:r>
              <a:rPr lang="en-US" b="0" i="0" u="none" strike="noStrike" dirty="0">
                <a:solidFill>
                  <a:srgbClr val="000000"/>
                </a:solidFill>
                <a:effectLst/>
              </a:rPr>
              <a:t>That acceleration reflects tightening labor markets, wage pressures on providers, and broader inflation. In practical terms, families are facing faster‑growing childcare bills just when many incomes are under stress. It’s precisely this kind of runaway cost growth that argues for a credit that can adjust to evolving financial pressures, not just a static subsidy.</a:t>
            </a:r>
          </a:p>
        </p:txBody>
      </p:sp>
      <p:sp>
        <p:nvSpPr>
          <p:cNvPr id="4" name="Slide Number Placeholder 3"/>
          <p:cNvSpPr>
            <a:spLocks noGrp="1"/>
          </p:cNvSpPr>
          <p:nvPr>
            <p:ph type="sldNum" sz="quarter" idx="5"/>
          </p:nvPr>
        </p:nvSpPr>
        <p:spPr/>
        <p:txBody>
          <a:bodyPr/>
          <a:lstStyle/>
          <a:p>
            <a:fld id="{3B0D5641-103C-3743-827E-EBDBBCD8BF31}" type="slidenum">
              <a:rPr lang="en-US" smtClean="0"/>
              <a:t>4</a:t>
            </a:fld>
            <a:endParaRPr lang="en-US"/>
          </a:p>
        </p:txBody>
      </p:sp>
    </p:spTree>
    <p:extLst>
      <p:ext uri="{BB962C8B-B14F-4D97-AF65-F5344CB8AC3E}">
        <p14:creationId xmlns:p14="http://schemas.microsoft.com/office/powerpoint/2010/main" val="97670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521AA-F25E-4798-2820-6CDD6EBE3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B5F66-C91D-46CF-31E3-72ABA6385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38022-3063-931F-4438-36F2F5C037FE}"/>
              </a:ext>
            </a:extLst>
          </p:cNvPr>
          <p:cNvSpPr>
            <a:spLocks noGrp="1"/>
          </p:cNvSpPr>
          <p:nvPr>
            <p:ph type="body" idx="1"/>
          </p:nvPr>
        </p:nvSpPr>
        <p:spPr/>
        <p:txBody>
          <a:bodyPr/>
          <a:lstStyle/>
          <a:p>
            <a:r>
              <a:rPr lang="en-US" b="1" dirty="0"/>
              <a:t>Regional disparities:</a:t>
            </a:r>
            <a:r>
              <a:rPr lang="en-US" dirty="0"/>
              <a:t> Annual care fees range from roughly $5,000 to $25,000 and vary widely by state and county and whether care is center-based or home-based.</a:t>
            </a:r>
          </a:p>
        </p:txBody>
      </p:sp>
      <p:sp>
        <p:nvSpPr>
          <p:cNvPr id="4" name="Slide Number Placeholder 3">
            <a:extLst>
              <a:ext uri="{FF2B5EF4-FFF2-40B4-BE49-F238E27FC236}">
                <a16:creationId xmlns:a16="http://schemas.microsoft.com/office/drawing/2014/main" id="{D2875E6C-861C-3F8A-4708-B70425338C0D}"/>
              </a:ext>
            </a:extLst>
          </p:cNvPr>
          <p:cNvSpPr>
            <a:spLocks noGrp="1"/>
          </p:cNvSpPr>
          <p:nvPr>
            <p:ph type="sldNum" sz="quarter" idx="5"/>
          </p:nvPr>
        </p:nvSpPr>
        <p:spPr/>
        <p:txBody>
          <a:bodyPr/>
          <a:lstStyle/>
          <a:p>
            <a:fld id="{3B0D5641-103C-3743-827E-EBDBBCD8BF31}" type="slidenum">
              <a:rPr lang="en-US" smtClean="0"/>
              <a:t>5</a:t>
            </a:fld>
            <a:endParaRPr lang="en-US"/>
          </a:p>
        </p:txBody>
      </p:sp>
    </p:spTree>
    <p:extLst>
      <p:ext uri="{BB962C8B-B14F-4D97-AF65-F5344CB8AC3E}">
        <p14:creationId xmlns:p14="http://schemas.microsoft.com/office/powerpoint/2010/main" val="121971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u="none" strike="noStrike" dirty="0">
                <a:solidFill>
                  <a:srgbClr val="000000"/>
                </a:solidFill>
                <a:effectLst/>
              </a:rPr>
              <a:t>On this map, each state’s shade shows its average annual childcare cost, from about $5.5K in the lightest‐colored states up to nearly $16K in the darkest.</a:t>
            </a:r>
          </a:p>
          <a:p>
            <a:pPr algn="l">
              <a:buNone/>
            </a:pPr>
            <a:r>
              <a:rPr lang="en-US" b="0" i="0" u="none" strike="noStrike" dirty="0">
                <a:solidFill>
                  <a:srgbClr val="000000"/>
                </a:solidFill>
                <a:effectLst/>
              </a:rPr>
              <a:t>Notice the hot spots: California, New York, Massachusetts, and other high‐cost metros in the Northeast and on the West Coast—all above $13K. In contrast, many states in the South and Midwest—think Mississippi, Arkansas, Oklahoma—hover down around $6–7K.</a:t>
            </a:r>
          </a:p>
          <a:p>
            <a:pPr algn="l"/>
            <a:r>
              <a:rPr lang="en-US" b="0" i="0" u="none" strike="noStrike" dirty="0">
                <a:solidFill>
                  <a:srgbClr val="000000"/>
                </a:solidFill>
                <a:effectLst/>
              </a:rPr>
              <a:t>This geographic spread reflects differences in local wages, real estate prices, and provider availability. It also highlights why a one‑size‑fits‑all credit falls short: families in high‑cost states face a much bigger burden. By indexing or tiering the child‑care credit to local cost levels, we can better target relief where it’s needed most.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B0D5641-103C-3743-827E-EBDBBCD8BF31}" type="slidenum">
              <a:rPr lang="en-US" smtClean="0"/>
              <a:t>6</a:t>
            </a:fld>
            <a:endParaRPr lang="en-US"/>
          </a:p>
        </p:txBody>
      </p:sp>
    </p:spTree>
    <p:extLst>
      <p:ext uri="{BB962C8B-B14F-4D97-AF65-F5344CB8AC3E}">
        <p14:creationId xmlns:p14="http://schemas.microsoft.com/office/powerpoint/2010/main" val="2257775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502FA-A170-9174-1025-FE3307889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025E0-251A-C5B6-4DEC-48E355C80F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0B715-ACB5-8853-4529-FD732CA586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Workforce impact:</a:t>
            </a:r>
            <a:r>
              <a:rPr lang="en-US" dirty="0"/>
              <a:t> High costs force many parents, especially mothers, to reduce work hours, postpone returning to work, or exit the workforce entirely.</a:t>
            </a:r>
          </a:p>
          <a:p>
            <a:pPr>
              <a:buNone/>
            </a:pPr>
            <a:endParaRPr lang="en-US" dirty="0"/>
          </a:p>
        </p:txBody>
      </p:sp>
      <p:sp>
        <p:nvSpPr>
          <p:cNvPr id="4" name="Slide Number Placeholder 3">
            <a:extLst>
              <a:ext uri="{FF2B5EF4-FFF2-40B4-BE49-F238E27FC236}">
                <a16:creationId xmlns:a16="http://schemas.microsoft.com/office/drawing/2014/main" id="{F7C338C7-3C17-1B06-E9EC-19C9E24BF4D9}"/>
              </a:ext>
            </a:extLst>
          </p:cNvPr>
          <p:cNvSpPr>
            <a:spLocks noGrp="1"/>
          </p:cNvSpPr>
          <p:nvPr>
            <p:ph type="sldNum" sz="quarter" idx="5"/>
          </p:nvPr>
        </p:nvSpPr>
        <p:spPr/>
        <p:txBody>
          <a:bodyPr/>
          <a:lstStyle/>
          <a:p>
            <a:fld id="{3B0D5641-103C-3743-827E-EBDBBCD8BF31}" type="slidenum">
              <a:rPr lang="en-US" smtClean="0"/>
              <a:t>7</a:t>
            </a:fld>
            <a:endParaRPr lang="en-US"/>
          </a:p>
        </p:txBody>
      </p:sp>
    </p:spTree>
    <p:extLst>
      <p:ext uri="{BB962C8B-B14F-4D97-AF65-F5344CB8AC3E}">
        <p14:creationId xmlns:p14="http://schemas.microsoft.com/office/powerpoint/2010/main" val="1492774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F17C4-14F7-78D3-D631-84B10DEB1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80E22-5AE3-F9B6-3601-09EABACD7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44588-20AB-B995-DA96-D9FDFF75DE7A}"/>
              </a:ext>
            </a:extLst>
          </p:cNvPr>
          <p:cNvSpPr>
            <a:spLocks noGrp="1"/>
          </p:cNvSpPr>
          <p:nvPr>
            <p:ph type="body" idx="1"/>
          </p:nvPr>
        </p:nvSpPr>
        <p:spPr/>
        <p:txBody>
          <a:bodyPr/>
          <a:lstStyle/>
          <a:p>
            <a:pPr algn="l">
              <a:buNone/>
            </a:pPr>
            <a:r>
              <a:rPr lang="en-US" b="0" i="0" u="none" strike="noStrike" dirty="0">
                <a:solidFill>
                  <a:srgbClr val="000000"/>
                </a:solidFill>
                <a:effectLst/>
              </a:rPr>
              <a:t>Here we see how caregiving responsibilities map onto workforce attachment.</a:t>
            </a:r>
          </a:p>
          <a:p>
            <a:pPr marL="171450" indent="-171450" algn="l">
              <a:buFont typeface="Arial" panose="020B0604020202020204" pitchFamily="34" charset="0"/>
              <a:buChar char="•"/>
            </a:pPr>
            <a:r>
              <a:rPr lang="en-US" b="0" i="0" u="none" strike="noStrike" dirty="0">
                <a:solidFill>
                  <a:srgbClr val="000000"/>
                </a:solidFill>
                <a:effectLst/>
              </a:rPr>
              <a:t>Women with only school‑age kids actually participate at 78.8 percent—slightly above the overall male rate of 77.4 percent—showing that when kids are older, mothers remain fully in the labor force.</a:t>
            </a:r>
          </a:p>
          <a:p>
            <a:pPr marL="171450" indent="-171450" algn="l">
              <a:buFont typeface="Arial" panose="020B0604020202020204" pitchFamily="34" charset="0"/>
              <a:buChar char="•"/>
            </a:pPr>
            <a:r>
              <a:rPr lang="en-US" b="0" i="0" u="none" strike="noStrike" dirty="0">
                <a:solidFill>
                  <a:srgbClr val="000000"/>
                </a:solidFill>
                <a:effectLst/>
              </a:rPr>
              <a:t>But the moment you look at mothers of young children, participation falls to 71.3 percent, and it dips further to 67.3 percent for women juggling both preschoolers and school‑agers.</a:t>
            </a:r>
          </a:p>
          <a:p>
            <a:pPr marL="171450" indent="-171450" algn="l">
              <a:buFont typeface="Arial" panose="020B0604020202020204" pitchFamily="34" charset="0"/>
              <a:buChar char="•"/>
            </a:pPr>
            <a:r>
              <a:rPr lang="en-US" b="0" i="0" u="none" strike="noStrike" dirty="0">
                <a:solidFill>
                  <a:srgbClr val="000000"/>
                </a:solidFill>
                <a:effectLst/>
              </a:rPr>
              <a:t>That gap—a 10‑point swing compared with moms of older kids and more than a 6‑point shortfall versus men—captures the “care penalty” in action and underlines why strengthening the Child and Dependent Care Credit is so vital to keeping parents, especially mothers, in paid work.</a:t>
            </a:r>
          </a:p>
          <a:p>
            <a:pPr>
              <a:buNone/>
            </a:pPr>
            <a:endParaRPr lang="en-US" dirty="0"/>
          </a:p>
        </p:txBody>
      </p:sp>
      <p:sp>
        <p:nvSpPr>
          <p:cNvPr id="4" name="Slide Number Placeholder 3">
            <a:extLst>
              <a:ext uri="{FF2B5EF4-FFF2-40B4-BE49-F238E27FC236}">
                <a16:creationId xmlns:a16="http://schemas.microsoft.com/office/drawing/2014/main" id="{F4327E23-4147-7371-A39A-F17A611C0BEA}"/>
              </a:ext>
            </a:extLst>
          </p:cNvPr>
          <p:cNvSpPr>
            <a:spLocks noGrp="1"/>
          </p:cNvSpPr>
          <p:nvPr>
            <p:ph type="sldNum" sz="quarter" idx="5"/>
          </p:nvPr>
        </p:nvSpPr>
        <p:spPr/>
        <p:txBody>
          <a:bodyPr/>
          <a:lstStyle/>
          <a:p>
            <a:fld id="{3B0D5641-103C-3743-827E-EBDBBCD8BF31}" type="slidenum">
              <a:rPr lang="en-US" smtClean="0"/>
              <a:t>8</a:t>
            </a:fld>
            <a:endParaRPr lang="en-US"/>
          </a:p>
        </p:txBody>
      </p:sp>
    </p:spTree>
    <p:extLst>
      <p:ext uri="{BB962C8B-B14F-4D97-AF65-F5344CB8AC3E}">
        <p14:creationId xmlns:p14="http://schemas.microsoft.com/office/powerpoint/2010/main" val="1853354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AC175-A3F7-635F-709A-F55474DC0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76CC7-2547-3AF2-D93F-6705FB1C1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E0AFC-B639-41CC-5AB9-61861181624D}"/>
              </a:ext>
            </a:extLst>
          </p:cNvPr>
          <p:cNvSpPr>
            <a:spLocks noGrp="1"/>
          </p:cNvSpPr>
          <p:nvPr>
            <p:ph type="body" idx="1"/>
          </p:nvPr>
        </p:nvSpPr>
        <p:spPr/>
        <p:txBody>
          <a:bodyPr/>
          <a:lstStyle/>
          <a:p>
            <a:pPr>
              <a:buNone/>
            </a:pPr>
            <a:r>
              <a:rPr lang="en-US" b="1" dirty="0"/>
              <a:t>Quality trade‑offs:</a:t>
            </a:r>
            <a:r>
              <a:rPr lang="en-US" dirty="0"/>
              <a:t> To save money, families may opt for lower‑quality care or less-regulated care arrangements, which research links to poorer development outcomes for children.</a:t>
            </a:r>
          </a:p>
        </p:txBody>
      </p:sp>
      <p:sp>
        <p:nvSpPr>
          <p:cNvPr id="4" name="Slide Number Placeholder 3">
            <a:extLst>
              <a:ext uri="{FF2B5EF4-FFF2-40B4-BE49-F238E27FC236}">
                <a16:creationId xmlns:a16="http://schemas.microsoft.com/office/drawing/2014/main" id="{D9042E0D-5D88-6868-7CB3-5B0664781949}"/>
              </a:ext>
            </a:extLst>
          </p:cNvPr>
          <p:cNvSpPr>
            <a:spLocks noGrp="1"/>
          </p:cNvSpPr>
          <p:nvPr>
            <p:ph type="sldNum" sz="quarter" idx="5"/>
          </p:nvPr>
        </p:nvSpPr>
        <p:spPr/>
        <p:txBody>
          <a:bodyPr/>
          <a:lstStyle/>
          <a:p>
            <a:fld id="{3B0D5641-103C-3743-827E-EBDBBCD8BF31}" type="slidenum">
              <a:rPr lang="en-US" smtClean="0"/>
              <a:t>9</a:t>
            </a:fld>
            <a:endParaRPr lang="en-US"/>
          </a:p>
        </p:txBody>
      </p:sp>
    </p:spTree>
    <p:extLst>
      <p:ext uri="{BB962C8B-B14F-4D97-AF65-F5344CB8AC3E}">
        <p14:creationId xmlns:p14="http://schemas.microsoft.com/office/powerpoint/2010/main" val="3327191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0539E-89B8-F74B-FD64-CEE1C29EE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F5E55-F7D1-8B1D-9DAB-FD865005D0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6FEB8-4DA3-ADB6-83CA-01D3624FB7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Budget squeeze:</a:t>
            </a:r>
            <a:r>
              <a:rPr lang="en-US" dirty="0"/>
              <a:t> Soaring childcare bills strain household budgets and limit consumer spending.</a:t>
            </a:r>
          </a:p>
        </p:txBody>
      </p:sp>
      <p:sp>
        <p:nvSpPr>
          <p:cNvPr id="4" name="Slide Number Placeholder 3">
            <a:extLst>
              <a:ext uri="{FF2B5EF4-FFF2-40B4-BE49-F238E27FC236}">
                <a16:creationId xmlns:a16="http://schemas.microsoft.com/office/drawing/2014/main" id="{6557A29E-1CC2-7EF6-CF30-A70294C84D74}"/>
              </a:ext>
            </a:extLst>
          </p:cNvPr>
          <p:cNvSpPr>
            <a:spLocks noGrp="1"/>
          </p:cNvSpPr>
          <p:nvPr>
            <p:ph type="sldNum" sz="quarter" idx="5"/>
          </p:nvPr>
        </p:nvSpPr>
        <p:spPr/>
        <p:txBody>
          <a:bodyPr/>
          <a:lstStyle/>
          <a:p>
            <a:fld id="{3B0D5641-103C-3743-827E-EBDBBCD8BF31}" type="slidenum">
              <a:rPr lang="en-US" smtClean="0"/>
              <a:t>10</a:t>
            </a:fld>
            <a:endParaRPr lang="en-US"/>
          </a:p>
        </p:txBody>
      </p:sp>
    </p:spTree>
    <p:extLst>
      <p:ext uri="{BB962C8B-B14F-4D97-AF65-F5344CB8AC3E}">
        <p14:creationId xmlns:p14="http://schemas.microsoft.com/office/powerpoint/2010/main" val="667696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On this slide I’ve lined up the average annual cost of childcare against different income benchmarks for 2022. At the top you see families are paying about $7.7K per child each year. That $7.7K isn’t just a small line item – it eats up roughly 12 percent of the typical household’s $62.3K income, and fully a quarter of what the average mother earns ($30.4K). Even for two‑earner households or dads ($43.9K on average), and the overall median earner ($36.9K), childcare is a significant budget slice. These gaps underscore why expanding the Child and Dependent Care Credit is so critical: it directly offsets a cost that represents a much larger share of many parents’ paychecks than of household income as a whole.</a:t>
            </a:r>
            <a:endParaRPr lang="en-US" dirty="0"/>
          </a:p>
        </p:txBody>
      </p:sp>
      <p:sp>
        <p:nvSpPr>
          <p:cNvPr id="4" name="Slide Number Placeholder 3"/>
          <p:cNvSpPr>
            <a:spLocks noGrp="1"/>
          </p:cNvSpPr>
          <p:nvPr>
            <p:ph type="sldNum" sz="quarter" idx="5"/>
          </p:nvPr>
        </p:nvSpPr>
        <p:spPr/>
        <p:txBody>
          <a:bodyPr/>
          <a:lstStyle/>
          <a:p>
            <a:fld id="{3B0D5641-103C-3743-827E-EBDBBCD8BF31}" type="slidenum">
              <a:rPr lang="en-US" smtClean="0"/>
              <a:t>11</a:t>
            </a:fld>
            <a:endParaRPr lang="en-US"/>
          </a:p>
        </p:txBody>
      </p:sp>
    </p:spTree>
    <p:extLst>
      <p:ext uri="{BB962C8B-B14F-4D97-AF65-F5344CB8AC3E}">
        <p14:creationId xmlns:p14="http://schemas.microsoft.com/office/powerpoint/2010/main" val="381804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8FE5-3FEF-D7D4-FB13-5AFC6F36B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E0181-F314-5F5E-6206-B23BF38DC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EB1291-D4CC-2F02-CF65-78C3C2DCD71A}"/>
              </a:ext>
            </a:extLst>
          </p:cNvPr>
          <p:cNvSpPr>
            <a:spLocks noGrp="1"/>
          </p:cNvSpPr>
          <p:nvPr>
            <p:ph type="body" idx="1"/>
          </p:nvPr>
        </p:nvSpPr>
        <p:spPr/>
        <p:txBody>
          <a:bodyPr/>
          <a:lstStyle/>
          <a:p>
            <a:pPr>
              <a:buNone/>
            </a:pPr>
            <a:r>
              <a:rPr lang="en-US" b="1" dirty="0"/>
              <a:t>Economic drag &amp; safety‑net reliance:</a:t>
            </a:r>
            <a:r>
              <a:rPr lang="en-US" dirty="0"/>
              <a:t> Expensive care contributes to slower economic growth and higher reliance on social safety‑net programs.</a:t>
            </a:r>
          </a:p>
        </p:txBody>
      </p:sp>
      <p:sp>
        <p:nvSpPr>
          <p:cNvPr id="4" name="Slide Number Placeholder 3">
            <a:extLst>
              <a:ext uri="{FF2B5EF4-FFF2-40B4-BE49-F238E27FC236}">
                <a16:creationId xmlns:a16="http://schemas.microsoft.com/office/drawing/2014/main" id="{FCD896B2-9BC4-0140-3975-D3697715801D}"/>
              </a:ext>
            </a:extLst>
          </p:cNvPr>
          <p:cNvSpPr>
            <a:spLocks noGrp="1"/>
          </p:cNvSpPr>
          <p:nvPr>
            <p:ph type="sldNum" sz="quarter" idx="5"/>
          </p:nvPr>
        </p:nvSpPr>
        <p:spPr/>
        <p:txBody>
          <a:bodyPr/>
          <a:lstStyle/>
          <a:p>
            <a:fld id="{3B0D5641-103C-3743-827E-EBDBBCD8BF31}" type="slidenum">
              <a:rPr lang="en-US" smtClean="0"/>
              <a:t>12</a:t>
            </a:fld>
            <a:endParaRPr lang="en-US"/>
          </a:p>
        </p:txBody>
      </p:sp>
    </p:spTree>
    <p:extLst>
      <p:ext uri="{BB962C8B-B14F-4D97-AF65-F5344CB8AC3E}">
        <p14:creationId xmlns:p14="http://schemas.microsoft.com/office/powerpoint/2010/main" val="2967989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B0001-99C2-0D8C-AACE-6E002F66B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CF12A-6356-221C-6048-DCE8D8D2B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1B186-39F6-3673-D017-46A937942CDD}"/>
              </a:ext>
            </a:extLst>
          </p:cNvPr>
          <p:cNvSpPr>
            <a:spLocks noGrp="1"/>
          </p:cNvSpPr>
          <p:nvPr>
            <p:ph type="body" idx="1"/>
          </p:nvPr>
        </p:nvSpPr>
        <p:spPr/>
        <p:txBody>
          <a:bodyPr/>
          <a:lstStyle/>
          <a:p>
            <a:r>
              <a:rPr lang="en-US" b="1" dirty="0"/>
              <a:t>Deepening inequalities:</a:t>
            </a:r>
            <a:r>
              <a:rPr lang="en-US" dirty="0"/>
              <a:t> These pressures exacerbate gender and income inequalities, disproportionately affecting lower‑ and middle‑income families.</a:t>
            </a:r>
          </a:p>
          <a:p>
            <a:endParaRPr lang="en-US" dirty="0"/>
          </a:p>
        </p:txBody>
      </p:sp>
      <p:sp>
        <p:nvSpPr>
          <p:cNvPr id="4" name="Slide Number Placeholder 3">
            <a:extLst>
              <a:ext uri="{FF2B5EF4-FFF2-40B4-BE49-F238E27FC236}">
                <a16:creationId xmlns:a16="http://schemas.microsoft.com/office/drawing/2014/main" id="{78B11C04-E8F0-A127-2A89-389CBCD6632D}"/>
              </a:ext>
            </a:extLst>
          </p:cNvPr>
          <p:cNvSpPr>
            <a:spLocks noGrp="1"/>
          </p:cNvSpPr>
          <p:nvPr>
            <p:ph type="sldNum" sz="quarter" idx="5"/>
          </p:nvPr>
        </p:nvSpPr>
        <p:spPr/>
        <p:txBody>
          <a:bodyPr/>
          <a:lstStyle/>
          <a:p>
            <a:fld id="{3B0D5641-103C-3743-827E-EBDBBCD8BF31}" type="slidenum">
              <a:rPr lang="en-US" smtClean="0"/>
              <a:t>13</a:t>
            </a:fld>
            <a:endParaRPr lang="en-US"/>
          </a:p>
        </p:txBody>
      </p:sp>
    </p:spTree>
    <p:extLst>
      <p:ext uri="{BB962C8B-B14F-4D97-AF65-F5344CB8AC3E}">
        <p14:creationId xmlns:p14="http://schemas.microsoft.com/office/powerpoint/2010/main" val="921926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Lower labor force participation:</a:t>
            </a:r>
            <a:r>
              <a:rPr lang="en-US" dirty="0"/>
              <a:t> Without expanded credits, many parents—particularly mothers—face prohibitive care costs that force them to reduce hours or leave the workforce altogether, dragging down household earnings and GDP growth.</a:t>
            </a:r>
          </a:p>
          <a:p>
            <a:pPr marL="171450" indent="-171450">
              <a:buFont typeface="Arial" panose="020B0604020202020204" pitchFamily="34" charset="0"/>
              <a:buChar char="•"/>
            </a:pPr>
            <a:r>
              <a:rPr lang="en-US" b="1" dirty="0"/>
              <a:t>Widening income inequality:</a:t>
            </a:r>
            <a:r>
              <a:rPr lang="en-US" dirty="0"/>
              <a:t> High‑earners can more easily absorb care expenses, while lower‑ and middle‑income families fall further behind, exacerbating wealth gaps.</a:t>
            </a:r>
          </a:p>
          <a:p>
            <a:pPr marL="171450" indent="-171450">
              <a:buFont typeface="Arial" panose="020B0604020202020204" pitchFamily="34" charset="0"/>
              <a:buChar char="•"/>
            </a:pPr>
            <a:r>
              <a:rPr lang="en-US" b="1" dirty="0"/>
              <a:t>Higher public expenditures elsewhere:</a:t>
            </a:r>
            <a:r>
              <a:rPr lang="en-US" dirty="0"/>
              <a:t> Families unable to afford care often turn to Medicaid, TANF, or other safety‑net programs, shifting costs to taxpayers.</a:t>
            </a:r>
          </a:p>
          <a:p>
            <a:pPr marL="171450" indent="-171450">
              <a:buFont typeface="Arial" panose="020B0604020202020204" pitchFamily="34" charset="0"/>
              <a:buChar char="•"/>
            </a:pPr>
            <a:r>
              <a:rPr lang="en-US" b="1" dirty="0"/>
              <a:t>Reduced consumer spending:</a:t>
            </a:r>
            <a:r>
              <a:rPr lang="en-US" dirty="0"/>
              <a:t> Stretched household budgets mean less discretionary spending, weakening demand for goods and services in local economies.</a:t>
            </a:r>
          </a:p>
          <a:p>
            <a:pPr marL="171450" indent="-171450">
              <a:buFont typeface="Arial" panose="020B0604020202020204" pitchFamily="34" charset="0"/>
              <a:buChar char="•"/>
            </a:pPr>
            <a:r>
              <a:rPr lang="en-US" b="1" dirty="0"/>
              <a:t>Increased employer‑side costs:</a:t>
            </a:r>
            <a:r>
              <a:rPr lang="en-US" dirty="0"/>
              <a:t> Employers bear the burden of higher turnover, absenteeism, and productivity losses when employees struggle to find reliable, affordable care.</a:t>
            </a:r>
          </a:p>
        </p:txBody>
      </p:sp>
      <p:sp>
        <p:nvSpPr>
          <p:cNvPr id="4" name="Slide Number Placeholder 3"/>
          <p:cNvSpPr>
            <a:spLocks noGrp="1"/>
          </p:cNvSpPr>
          <p:nvPr>
            <p:ph type="sldNum" sz="quarter" idx="5"/>
          </p:nvPr>
        </p:nvSpPr>
        <p:spPr/>
        <p:txBody>
          <a:bodyPr/>
          <a:lstStyle/>
          <a:p>
            <a:fld id="{3B0D5641-103C-3743-827E-EBDBBCD8BF31}" type="slidenum">
              <a:rPr lang="en-US" smtClean="0"/>
              <a:t>14</a:t>
            </a:fld>
            <a:endParaRPr lang="en-US"/>
          </a:p>
        </p:txBody>
      </p:sp>
    </p:spTree>
    <p:extLst>
      <p:ext uri="{BB962C8B-B14F-4D97-AF65-F5344CB8AC3E}">
        <p14:creationId xmlns:p14="http://schemas.microsoft.com/office/powerpoint/2010/main" val="2153452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Stunted child development:</a:t>
            </a:r>
            <a:r>
              <a:rPr lang="en-US" dirty="0"/>
              <a:t> Families cut back on quality early‑care options, which can impair children’s cognitive, social, and emotional development—risks that compound over a lifetime.</a:t>
            </a:r>
          </a:p>
          <a:p>
            <a:pPr marL="171450" indent="-171450">
              <a:buFont typeface="Arial" panose="020B0604020202020204" pitchFamily="34" charset="0"/>
              <a:buChar char="•"/>
            </a:pPr>
            <a:r>
              <a:rPr lang="en-US" b="1" dirty="0"/>
              <a:t>Entrenched gender disparities:</a:t>
            </a:r>
            <a:r>
              <a:rPr lang="en-US" dirty="0"/>
              <a:t> The “care penalty” disproportionately falls on women, limiting their career progression, lifetime earnings, and retirement security.</a:t>
            </a:r>
          </a:p>
          <a:p>
            <a:pPr marL="171450" indent="-171450">
              <a:buFont typeface="Arial" panose="020B0604020202020204" pitchFamily="34" charset="0"/>
              <a:buChar char="•"/>
            </a:pPr>
            <a:r>
              <a:rPr lang="en-US" b="1" dirty="0"/>
              <a:t>Higher poverty rates:</a:t>
            </a:r>
            <a:r>
              <a:rPr lang="en-US" dirty="0"/>
              <a:t> Without refundable support, families with very low incomes receive little to no benefit, trapping more households below the poverty line.</a:t>
            </a:r>
          </a:p>
          <a:p>
            <a:pPr marL="171450" indent="-171450">
              <a:buFont typeface="Arial" panose="020B0604020202020204" pitchFamily="34" charset="0"/>
              <a:buChar char="•"/>
            </a:pPr>
            <a:r>
              <a:rPr lang="en-US" b="1" dirty="0"/>
              <a:t>Caregiver burnout and stress:</a:t>
            </a:r>
            <a:r>
              <a:rPr lang="en-US" dirty="0"/>
              <a:t> Financial strain and juggling unpredictable schedules contribute to poorer mental and physical health for parents and other family caregivers.</a:t>
            </a:r>
          </a:p>
          <a:p>
            <a:pPr marL="171450" indent="-171450">
              <a:buFont typeface="Arial" panose="020B0604020202020204" pitchFamily="34" charset="0"/>
              <a:buChar char="•"/>
            </a:pPr>
            <a:r>
              <a:rPr lang="en-US" b="1" dirty="0"/>
              <a:t>Weaker social cohesion:</a:t>
            </a:r>
            <a:r>
              <a:rPr lang="en-US" dirty="0"/>
              <a:t> When families can’t access dependable care, community engagement suffers—parents have less time for volunteerism, civic participation, and local networks that strengthen social fabric.</a:t>
            </a:r>
          </a:p>
        </p:txBody>
      </p:sp>
      <p:sp>
        <p:nvSpPr>
          <p:cNvPr id="4" name="Slide Number Placeholder 3"/>
          <p:cNvSpPr>
            <a:spLocks noGrp="1"/>
          </p:cNvSpPr>
          <p:nvPr>
            <p:ph type="sldNum" sz="quarter" idx="5"/>
          </p:nvPr>
        </p:nvSpPr>
        <p:spPr/>
        <p:txBody>
          <a:bodyPr/>
          <a:lstStyle/>
          <a:p>
            <a:fld id="{3B0D5641-103C-3743-827E-EBDBBCD8BF31}" type="slidenum">
              <a:rPr lang="en-US" smtClean="0"/>
              <a:t>15</a:t>
            </a:fld>
            <a:endParaRPr lang="en-US"/>
          </a:p>
        </p:txBody>
      </p:sp>
    </p:spTree>
    <p:extLst>
      <p:ext uri="{BB962C8B-B14F-4D97-AF65-F5344CB8AC3E}">
        <p14:creationId xmlns:p14="http://schemas.microsoft.com/office/powerpoint/2010/main" val="1315749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US" b="1" i="0" u="none" strike="noStrike" dirty="0">
                <a:solidFill>
                  <a:srgbClr val="000000"/>
                </a:solidFill>
                <a:effectLst/>
              </a:rPr>
              <a:t>Increase eligible expenses and credit rates</a:t>
            </a:r>
            <a:r>
              <a:rPr lang="en-US" b="0" i="0" u="none" strike="noStrike" dirty="0">
                <a:solidFill>
                  <a:srgbClr val="000000"/>
                </a:solidFill>
                <a:effectLst/>
              </a:rPr>
              <a:t>: </a:t>
            </a:r>
          </a:p>
          <a:p>
            <a:pPr marL="628650" lvl="1" indent="-171450">
              <a:buFont typeface="Arial" panose="020B0604020202020204" pitchFamily="34" charset="0"/>
              <a:buChar char="•"/>
            </a:pPr>
            <a:r>
              <a:rPr lang="en-US" b="0" i="0" u="none" strike="noStrike" dirty="0">
                <a:solidFill>
                  <a:srgbClr val="000000"/>
                </a:solidFill>
                <a:effectLst/>
              </a:rPr>
              <a:t>Raise the cap on qualifying expenses to $12,000 for one child (and $24,000 for two or more), reflecting today’s average care costs in high‑price regions.</a:t>
            </a:r>
          </a:p>
          <a:p>
            <a:pPr marL="628650" lvl="1" indent="-171450">
              <a:buFont typeface="Arial" panose="020B0604020202020204" pitchFamily="34" charset="0"/>
              <a:buChar char="•"/>
            </a:pPr>
            <a:r>
              <a:rPr lang="en-US" b="0" i="0" u="none" strike="noStrike" dirty="0">
                <a:solidFill>
                  <a:srgbClr val="000000"/>
                </a:solidFill>
                <a:effectLst/>
              </a:rPr>
              <a:t>Boost the credit percentage to up to 70% of those expenses for lower‑ and middle‑income households, phasing down gradually only for those above 200% of the federal poverty level.</a:t>
            </a:r>
          </a:p>
          <a:p>
            <a:pPr marL="171450" indent="-171450" algn="l">
              <a:buFont typeface="Arial" panose="020B0604020202020204" pitchFamily="34" charset="0"/>
              <a:buChar char="•"/>
            </a:pPr>
            <a:r>
              <a:rPr lang="en-US" b="1" i="0" u="none" strike="noStrike" dirty="0">
                <a:solidFill>
                  <a:srgbClr val="000000"/>
                </a:solidFill>
                <a:effectLst/>
              </a:rPr>
              <a:t>Broaden eligibility</a:t>
            </a:r>
          </a:p>
          <a:p>
            <a:pPr marL="628650" lvl="1" indent="-171450">
              <a:buFont typeface="Arial" panose="020B0604020202020204" pitchFamily="34" charset="0"/>
              <a:buChar char="•"/>
            </a:pPr>
            <a:r>
              <a:rPr lang="en-US" b="0" i="0" u="none" strike="noStrike" dirty="0">
                <a:solidFill>
                  <a:srgbClr val="000000"/>
                </a:solidFill>
                <a:effectLst/>
              </a:rPr>
              <a:t>Extend eligibility to cover a wider array of caregivers (e.g., grandparents, extended family, registered neighborhood cooperatives) and dependent care situations (elder care, care for disabled adults).</a:t>
            </a:r>
            <a:endParaRPr lang="en-US" b="1" i="0" u="none" strike="noStrike" dirty="0">
              <a:solidFill>
                <a:srgbClr val="000000"/>
              </a:solidFill>
              <a:effectLst/>
            </a:endParaRPr>
          </a:p>
          <a:p>
            <a:pPr marL="171450" indent="-171450" algn="l">
              <a:buFont typeface="Arial" panose="020B0604020202020204" pitchFamily="34" charset="0"/>
              <a:buChar char="•"/>
            </a:pPr>
            <a:r>
              <a:rPr lang="en-US" b="1" i="0" u="none" strike="noStrike" dirty="0">
                <a:solidFill>
                  <a:srgbClr val="000000"/>
                </a:solidFill>
                <a:effectLst/>
              </a:rPr>
              <a:t>Simplify access</a:t>
            </a:r>
            <a:endParaRPr lang="en-US" dirty="0">
              <a:solidFill>
                <a:srgbClr val="000000"/>
              </a:solidFill>
            </a:endParaRPr>
          </a:p>
          <a:p>
            <a:pPr marL="628650" lvl="1" indent="-171450">
              <a:buFont typeface="Arial" panose="020B0604020202020204" pitchFamily="34" charset="0"/>
              <a:buChar char="•"/>
            </a:pPr>
            <a:r>
              <a:rPr lang="en-US" b="0" i="0" u="none" strike="noStrike" dirty="0">
                <a:solidFill>
                  <a:srgbClr val="000000"/>
                </a:solidFill>
                <a:effectLst/>
              </a:rPr>
              <a:t>Eliminate complex phase‑outs by adopting a single sliding‑scale formula tied to a taxpayer’s adjusted gross income, with full refundability for all filers.</a:t>
            </a:r>
          </a:p>
          <a:p>
            <a:pPr marL="171450" indent="-171450" algn="l">
              <a:buFont typeface="Arial" panose="020B0604020202020204" pitchFamily="34" charset="0"/>
              <a:buChar char="•"/>
            </a:pPr>
            <a:r>
              <a:rPr lang="en-US" b="1" i="0" u="none" strike="noStrike" dirty="0">
                <a:solidFill>
                  <a:srgbClr val="000000"/>
                </a:solidFill>
                <a:effectLst/>
              </a:rPr>
              <a:t>Index and stabilize for the future</a:t>
            </a:r>
            <a:endParaRPr lang="en-US" dirty="0">
              <a:solidFill>
                <a:srgbClr val="000000"/>
              </a:solidFill>
            </a:endParaRPr>
          </a:p>
          <a:p>
            <a:pPr marL="628650" lvl="1" indent="-171450">
              <a:buFont typeface="Arial" panose="020B0604020202020204" pitchFamily="34" charset="0"/>
              <a:buChar char="•"/>
            </a:pPr>
            <a:r>
              <a:rPr lang="en-US" b="0" i="0" u="none" strike="noStrike" dirty="0">
                <a:solidFill>
                  <a:srgbClr val="000000"/>
                </a:solidFill>
                <a:effectLst/>
              </a:rPr>
              <a:t>Index expense caps to the Consumer Price Index each year to protect against inflation.</a:t>
            </a:r>
          </a:p>
          <a:p>
            <a:pPr marL="628650" lvl="1" indent="-171450">
              <a:buFont typeface="Arial" panose="020B0604020202020204" pitchFamily="34" charset="0"/>
              <a:buChar char="•"/>
            </a:pPr>
            <a:r>
              <a:rPr lang="en-US" b="0" i="0" u="none" strike="noStrike" dirty="0">
                <a:solidFill>
                  <a:srgbClr val="000000"/>
                </a:solidFill>
                <a:effectLst/>
              </a:rPr>
              <a:t>Make the expansion permanent, removing sunset clauses, so families and employers can plan around a stable credit each tax season.</a:t>
            </a:r>
          </a:p>
          <a:p>
            <a:pPr algn="l"/>
            <a:endParaRPr lang="en-US" b="0" i="0" u="none" strike="noStrike" dirty="0">
              <a:solidFill>
                <a:srgbClr val="000000"/>
              </a:solidFill>
              <a:effectLst/>
            </a:endParaRPr>
          </a:p>
          <a:p>
            <a:pPr algn="l"/>
            <a:r>
              <a:rPr lang="en-US" b="0" i="0" u="none" strike="noStrike" dirty="0">
                <a:solidFill>
                  <a:srgbClr val="000000"/>
                </a:solidFill>
                <a:effectLst/>
              </a:rPr>
              <a:t>By raising both the dollar limits and credit rates, simplifying the claim process, and indexing for inflation, this expanded CDCC would deliver stronger, more equitable support for today’s diverse caregiving needs – and help ensure that no family is priced out of the workforce by the high cost of care.</a:t>
            </a:r>
          </a:p>
        </p:txBody>
      </p:sp>
      <p:sp>
        <p:nvSpPr>
          <p:cNvPr id="4" name="Slide Number Placeholder 3"/>
          <p:cNvSpPr>
            <a:spLocks noGrp="1"/>
          </p:cNvSpPr>
          <p:nvPr>
            <p:ph type="sldNum" sz="quarter" idx="5"/>
          </p:nvPr>
        </p:nvSpPr>
        <p:spPr/>
        <p:txBody>
          <a:bodyPr/>
          <a:lstStyle/>
          <a:p>
            <a:fld id="{3B0D5641-103C-3743-827E-EBDBBCD8BF31}" type="slidenum">
              <a:rPr lang="en-US" smtClean="0"/>
              <a:t>16</a:t>
            </a:fld>
            <a:endParaRPr lang="en-US"/>
          </a:p>
        </p:txBody>
      </p:sp>
    </p:spTree>
    <p:extLst>
      <p:ext uri="{BB962C8B-B14F-4D97-AF65-F5344CB8AC3E}">
        <p14:creationId xmlns:p14="http://schemas.microsoft.com/office/powerpoint/2010/main" val="2049325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Higher labor force participation:</a:t>
            </a:r>
            <a:r>
              <a:rPr lang="en-US" dirty="0"/>
              <a:t> By lowering out‑of‑pocket care costs, more parents—especially mothers—can stay in or rejoin the workforce, boosting overall employment and GDP.</a:t>
            </a:r>
          </a:p>
          <a:p>
            <a:pPr marL="171450" indent="-171450">
              <a:buFont typeface="Arial" panose="020B0604020202020204" pitchFamily="34" charset="0"/>
              <a:buChar char="•"/>
            </a:pPr>
            <a:r>
              <a:rPr lang="en-US" b="1" dirty="0"/>
              <a:t>Increased earnings &amp; tax revenue:</a:t>
            </a:r>
            <a:r>
              <a:rPr lang="en-US" dirty="0"/>
              <a:t> As caregivers earn and spend more, federal and state tax receipts grow, helping offset the credit’s cost.</a:t>
            </a:r>
          </a:p>
          <a:p>
            <a:pPr marL="171450" indent="-171450">
              <a:buFont typeface="Arial" panose="020B0604020202020204" pitchFamily="34" charset="0"/>
              <a:buChar char="•"/>
            </a:pPr>
            <a:r>
              <a:rPr lang="en-US" b="1" dirty="0"/>
              <a:t>Reduced employer costs:</a:t>
            </a:r>
            <a:r>
              <a:rPr lang="en-US" dirty="0"/>
              <a:t> Employers benefit from lower turnover and absenteeism when workers can reliably secure affordable care.</a:t>
            </a:r>
          </a:p>
          <a:p>
            <a:pPr marL="171450" indent="-171450">
              <a:buFont typeface="Arial" panose="020B0604020202020204" pitchFamily="34" charset="0"/>
              <a:buChar char="•"/>
            </a:pPr>
            <a:r>
              <a:rPr lang="en-US" b="1" dirty="0"/>
              <a:t>Stimulated consumer spending:</a:t>
            </a:r>
            <a:r>
              <a:rPr lang="en-US" dirty="0"/>
              <a:t> Extra household income freed by the credit flows back into local economies, supporting small businesses and service industries.</a:t>
            </a:r>
          </a:p>
          <a:p>
            <a:pPr marL="171450" indent="-171450">
              <a:buFont typeface="Arial" panose="020B0604020202020204" pitchFamily="34" charset="0"/>
              <a:buChar char="•"/>
            </a:pPr>
            <a:r>
              <a:rPr lang="en-US" b="1" dirty="0"/>
              <a:t>Poverty reduction:</a:t>
            </a:r>
            <a:r>
              <a:rPr lang="en-US" dirty="0"/>
              <a:t> Larger, refundable credits lift more families above poverty thresholds, reducing reliance on other social safety‑net programs.</a:t>
            </a:r>
          </a:p>
        </p:txBody>
      </p:sp>
      <p:sp>
        <p:nvSpPr>
          <p:cNvPr id="4" name="Slide Number Placeholder 3"/>
          <p:cNvSpPr>
            <a:spLocks noGrp="1"/>
          </p:cNvSpPr>
          <p:nvPr>
            <p:ph type="sldNum" sz="quarter" idx="5"/>
          </p:nvPr>
        </p:nvSpPr>
        <p:spPr/>
        <p:txBody>
          <a:bodyPr/>
          <a:lstStyle/>
          <a:p>
            <a:fld id="{3B0D5641-103C-3743-827E-EBDBBCD8BF31}" type="slidenum">
              <a:rPr lang="en-US" smtClean="0"/>
              <a:t>17</a:t>
            </a:fld>
            <a:endParaRPr lang="en-US"/>
          </a:p>
        </p:txBody>
      </p:sp>
    </p:spTree>
    <p:extLst>
      <p:ext uri="{BB962C8B-B14F-4D97-AF65-F5344CB8AC3E}">
        <p14:creationId xmlns:p14="http://schemas.microsoft.com/office/powerpoint/2010/main" val="3425312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Better child development:</a:t>
            </a:r>
            <a:r>
              <a:rPr lang="en-US" dirty="0"/>
              <a:t> Access to quality care and early education improves cognitive, social, and emotional outcomes for children, setting them up for long‑term success.</a:t>
            </a:r>
          </a:p>
          <a:p>
            <a:pPr marL="171450" indent="-171450">
              <a:buFont typeface="Arial" panose="020B0604020202020204" pitchFamily="34" charset="0"/>
              <a:buChar char="•"/>
            </a:pPr>
            <a:r>
              <a:rPr lang="en-US" b="1" dirty="0"/>
              <a:t>Gender equity:</a:t>
            </a:r>
            <a:r>
              <a:rPr lang="en-US" dirty="0"/>
              <a:t> Easing the “care penalty” helps close gender gaps in employment, wages, and retirement savings by valuing caregiving as work.</a:t>
            </a:r>
          </a:p>
          <a:p>
            <a:pPr marL="171450" indent="-171450">
              <a:buFont typeface="Arial" panose="020B0604020202020204" pitchFamily="34" charset="0"/>
              <a:buChar char="•"/>
            </a:pPr>
            <a:r>
              <a:rPr lang="en-US" b="1" dirty="0"/>
              <a:t>Improved caregiver well‑being:</a:t>
            </a:r>
            <a:r>
              <a:rPr lang="en-US" dirty="0"/>
              <a:t> Reduced financial stress leads to better mental and physical health for parents and other family caregivers.</a:t>
            </a:r>
          </a:p>
          <a:p>
            <a:pPr marL="171450" indent="-171450">
              <a:buFont typeface="Arial" panose="020B0604020202020204" pitchFamily="34" charset="0"/>
              <a:buChar char="•"/>
            </a:pPr>
            <a:r>
              <a:rPr lang="en-US" b="1" dirty="0"/>
              <a:t>Expanded support networks:</a:t>
            </a:r>
            <a:r>
              <a:rPr lang="en-US" dirty="0"/>
              <a:t> Broadening eligibility to include elders and disabled dependents recognizes diverse family structures and care needs.</a:t>
            </a:r>
          </a:p>
          <a:p>
            <a:pPr marL="171450" indent="-171450">
              <a:buFont typeface="Arial" panose="020B0604020202020204" pitchFamily="34" charset="0"/>
              <a:buChar char="•"/>
            </a:pPr>
            <a:r>
              <a:rPr lang="en-US" b="1" dirty="0"/>
              <a:t>Stronger communities:</a:t>
            </a:r>
            <a:r>
              <a:rPr lang="en-US" dirty="0"/>
              <a:t> When families aren’t forced to choose between work and care, communities enjoy more stability, engagement, and social cohesion.</a:t>
            </a:r>
          </a:p>
        </p:txBody>
      </p:sp>
      <p:sp>
        <p:nvSpPr>
          <p:cNvPr id="4" name="Slide Number Placeholder 3"/>
          <p:cNvSpPr>
            <a:spLocks noGrp="1"/>
          </p:cNvSpPr>
          <p:nvPr>
            <p:ph type="sldNum" sz="quarter" idx="5"/>
          </p:nvPr>
        </p:nvSpPr>
        <p:spPr/>
        <p:txBody>
          <a:bodyPr/>
          <a:lstStyle/>
          <a:p>
            <a:fld id="{3B0D5641-103C-3743-827E-EBDBBCD8BF31}" type="slidenum">
              <a:rPr lang="en-US" smtClean="0"/>
              <a:t>18</a:t>
            </a:fld>
            <a:endParaRPr lang="en-US"/>
          </a:p>
        </p:txBody>
      </p:sp>
    </p:spTree>
    <p:extLst>
      <p:ext uri="{BB962C8B-B14F-4D97-AF65-F5344CB8AC3E}">
        <p14:creationId xmlns:p14="http://schemas.microsoft.com/office/powerpoint/2010/main" val="37784219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latin typeface="-webkit-standard"/>
              </a:rPr>
              <a:t>That brings us to how you can help turn these insights into impact. If you believe—like I do—that affordable, reliable care is the backbone of a strong economy and healthy families, please pick up the phone this week. Call your member of the House at </a:t>
            </a:r>
            <a:r>
              <a:rPr lang="en-US" b="0" i="0" u="none" strike="noStrike" dirty="0">
                <a:solidFill>
                  <a:srgbClr val="000000"/>
                </a:solidFill>
                <a:effectLst/>
              </a:rPr>
              <a:t>202‑225‑3121</a:t>
            </a:r>
            <a:r>
              <a:rPr lang="en-US" b="0" i="0" u="none" strike="noStrike" dirty="0">
                <a:solidFill>
                  <a:srgbClr val="000000"/>
                </a:solidFill>
                <a:effectLst/>
                <a:latin typeface="-webkit-standard"/>
              </a:rPr>
              <a:t> or your Senators at </a:t>
            </a:r>
            <a:r>
              <a:rPr lang="en-US" b="1" i="0" u="none" strike="noStrike" dirty="0">
                <a:solidFill>
                  <a:srgbClr val="000000"/>
                </a:solidFill>
                <a:effectLst/>
              </a:rPr>
              <a:t>202‑224‑3121</a:t>
            </a:r>
            <a:r>
              <a:rPr lang="en-US" b="0" i="0" u="none" strike="noStrike" dirty="0">
                <a:solidFill>
                  <a:srgbClr val="000000"/>
                </a:solidFill>
                <a:effectLst/>
                <a:latin typeface="-webkit-standard"/>
              </a:rPr>
              <a:t>, and urge them to support an expanded, indexed Child and Dependent Care Credit. Every call makes a difference, and together we can give working parents the support they deserve.</a:t>
            </a:r>
            <a:endParaRPr lang="en-US" dirty="0"/>
          </a:p>
        </p:txBody>
      </p:sp>
      <p:sp>
        <p:nvSpPr>
          <p:cNvPr id="4" name="Slide Number Placeholder 3"/>
          <p:cNvSpPr>
            <a:spLocks noGrp="1"/>
          </p:cNvSpPr>
          <p:nvPr>
            <p:ph type="sldNum" sz="quarter" idx="5"/>
          </p:nvPr>
        </p:nvSpPr>
        <p:spPr/>
        <p:txBody>
          <a:bodyPr/>
          <a:lstStyle/>
          <a:p>
            <a:fld id="{3B0D5641-103C-3743-827E-EBDBBCD8BF31}" type="slidenum">
              <a:rPr lang="en-US" smtClean="0"/>
              <a:t>19</a:t>
            </a:fld>
            <a:endParaRPr lang="en-US"/>
          </a:p>
        </p:txBody>
      </p:sp>
    </p:spTree>
    <p:extLst>
      <p:ext uri="{BB962C8B-B14F-4D97-AF65-F5344CB8AC3E}">
        <p14:creationId xmlns:p14="http://schemas.microsoft.com/office/powerpoint/2010/main" val="3023478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4/21/25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4/21/25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16CFC-5CDE-FB17-B08B-2E99A96B4A52}"/>
              </a:ext>
            </a:extLst>
          </p:cNvPr>
          <p:cNvSpPr>
            <a:spLocks noGrp="1"/>
          </p:cNvSpPr>
          <p:nvPr>
            <p:ph type="ctrTitle"/>
          </p:nvPr>
        </p:nvSpPr>
        <p:spPr/>
        <p:txBody>
          <a:bodyPr/>
          <a:lstStyle/>
          <a:p>
            <a:r>
              <a:rPr lang="en-US" dirty="0"/>
              <a:t>Expanding the Child and Dependent Care Credit (CDCC)</a:t>
            </a:r>
          </a:p>
        </p:txBody>
      </p:sp>
      <p:sp>
        <p:nvSpPr>
          <p:cNvPr id="3" name="Subtitle 2">
            <a:extLst>
              <a:ext uri="{FF2B5EF4-FFF2-40B4-BE49-F238E27FC236}">
                <a16:creationId xmlns:a16="http://schemas.microsoft.com/office/drawing/2014/main" id="{B58DD009-4FC8-0B44-4240-BFD9C3294FC4}"/>
              </a:ext>
            </a:extLst>
          </p:cNvPr>
          <p:cNvSpPr>
            <a:spLocks noGrp="1"/>
          </p:cNvSpPr>
          <p:nvPr>
            <p:ph type="subTitle" idx="1"/>
          </p:nvPr>
        </p:nvSpPr>
        <p:spPr/>
        <p:txBody>
          <a:bodyPr/>
          <a:lstStyle/>
          <a:p>
            <a:r>
              <a:rPr lang="en-US" dirty="0"/>
              <a:t>A Critical Investment in Our Future</a:t>
            </a:r>
          </a:p>
          <a:p>
            <a:r>
              <a:rPr lang="en-US" dirty="0"/>
              <a:t>By Emily Picinich</a:t>
            </a:r>
          </a:p>
        </p:txBody>
      </p:sp>
    </p:spTree>
    <p:extLst>
      <p:ext uri="{BB962C8B-B14F-4D97-AF65-F5344CB8AC3E}">
        <p14:creationId xmlns:p14="http://schemas.microsoft.com/office/powerpoint/2010/main" val="4049273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8361A-7090-4D85-CF9D-BC51EF66BC13}"/>
              </a:ext>
            </a:extLst>
          </p:cNvPr>
          <p:cNvSpPr>
            <a:spLocks noGrp="1"/>
          </p:cNvSpPr>
          <p:nvPr>
            <p:ph type="title"/>
          </p:nvPr>
        </p:nvSpPr>
        <p:spPr/>
        <p:txBody>
          <a:bodyPr/>
          <a:lstStyle/>
          <a:p>
            <a:r>
              <a:rPr lang="en-US" dirty="0"/>
              <a:t>Childcare Demand</a:t>
            </a:r>
          </a:p>
        </p:txBody>
      </p:sp>
      <p:sp>
        <p:nvSpPr>
          <p:cNvPr id="3" name="Content Placeholder 2">
            <a:extLst>
              <a:ext uri="{FF2B5EF4-FFF2-40B4-BE49-F238E27FC236}">
                <a16:creationId xmlns:a16="http://schemas.microsoft.com/office/drawing/2014/main" id="{8E56D527-DC7B-CA8C-D5E5-54E6DCBD5A95}"/>
              </a:ext>
            </a:extLst>
          </p:cNvPr>
          <p:cNvSpPr>
            <a:spLocks noGrp="1"/>
          </p:cNvSpPr>
          <p:nvPr>
            <p:ph idx="1"/>
          </p:nvPr>
        </p:nvSpPr>
        <p:spPr/>
        <p:txBody>
          <a:bodyPr/>
          <a:lstStyle/>
          <a:p>
            <a:r>
              <a:rPr lang="en-US" dirty="0"/>
              <a:t>12 – the age a child can be left alone</a:t>
            </a:r>
          </a:p>
          <a:p>
            <a:r>
              <a:rPr lang="en-US" dirty="0"/>
              <a:t>46.6 million children under 12 in the US</a:t>
            </a:r>
          </a:p>
        </p:txBody>
      </p:sp>
    </p:spTree>
    <p:extLst>
      <p:ext uri="{BB962C8B-B14F-4D97-AF65-F5344CB8AC3E}">
        <p14:creationId xmlns:p14="http://schemas.microsoft.com/office/powerpoint/2010/main" val="2147865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7AEF1-352E-DFA0-2FBD-BD2429793C04}"/>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BF0D0557-E263-AFEF-9EA7-5CBE014B9215}"/>
              </a:ext>
            </a:extLst>
          </p:cNvPr>
          <p:cNvSpPr>
            <a:spLocks noGrp="1"/>
          </p:cNvSpPr>
          <p:nvPr>
            <p:ph idx="1"/>
          </p:nvPr>
        </p:nvSpPr>
        <p:spPr/>
        <p:txBody>
          <a:bodyPr/>
          <a:lstStyle/>
          <a:p>
            <a:r>
              <a:rPr lang="en-US" dirty="0"/>
              <a:t>Skyrocketing expenses</a:t>
            </a:r>
          </a:p>
          <a:p>
            <a:r>
              <a:rPr lang="en-US" dirty="0">
                <a:solidFill>
                  <a:schemeClr val="bg1"/>
                </a:solidFill>
              </a:rPr>
              <a:t>Regional disparities</a:t>
            </a:r>
          </a:p>
          <a:p>
            <a:r>
              <a:rPr lang="en-US" dirty="0">
                <a:solidFill>
                  <a:schemeClr val="bg1"/>
                </a:solidFill>
              </a:rPr>
              <a:t>Workforce Impact</a:t>
            </a:r>
          </a:p>
          <a:p>
            <a:r>
              <a:rPr lang="en-US" dirty="0">
                <a:solidFill>
                  <a:schemeClr val="bg1"/>
                </a:solidFill>
              </a:rPr>
              <a:t>Quality trade-offs</a:t>
            </a:r>
          </a:p>
          <a:p>
            <a:r>
              <a:rPr lang="en-US" dirty="0">
                <a:solidFill>
                  <a:schemeClr val="bg1"/>
                </a:solidFill>
              </a:rPr>
              <a:t>Budget squeeze</a:t>
            </a:r>
          </a:p>
          <a:p>
            <a:r>
              <a:rPr lang="en-US" dirty="0">
                <a:solidFill>
                  <a:schemeClr val="bg1"/>
                </a:solidFill>
              </a:rPr>
              <a:t>Economic drag and safety-net reliance</a:t>
            </a:r>
          </a:p>
          <a:p>
            <a:r>
              <a:rPr lang="en-US" dirty="0">
                <a:solidFill>
                  <a:schemeClr val="bg1"/>
                </a:solidFill>
              </a:rPr>
              <a:t>Deepening inequalities</a:t>
            </a:r>
          </a:p>
        </p:txBody>
      </p:sp>
    </p:spTree>
    <p:extLst>
      <p:ext uri="{BB962C8B-B14F-4D97-AF65-F5344CB8AC3E}">
        <p14:creationId xmlns:p14="http://schemas.microsoft.com/office/powerpoint/2010/main" val="1614616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D1AA95-6EBB-F0A1-AB7F-1FD14E3579C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ABBB681-F4D2-40F2-ACC3-DE0B4B488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388ED0-1FEF-4E11-B488-BD661D1AC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5847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Content Placeholder 16" descr="A graph of a graph showing the cost of a home-based home&#10;&#10;AI-generated content may be incorrect.">
            <a:extLst>
              <a:ext uri="{FF2B5EF4-FFF2-40B4-BE49-F238E27FC236}">
                <a16:creationId xmlns:a16="http://schemas.microsoft.com/office/drawing/2014/main" id="{CE83C062-3C06-0961-606F-A31041D247B5}"/>
              </a:ext>
            </a:extLst>
          </p:cNvPr>
          <p:cNvPicPr>
            <a:picLocks noGrp="1" noChangeAspect="1"/>
          </p:cNvPicPr>
          <p:nvPr>
            <p:ph idx="1"/>
          </p:nvPr>
        </p:nvPicPr>
        <p:blipFill>
          <a:blip r:embed="rId3"/>
          <a:stretch>
            <a:fillRect/>
          </a:stretch>
        </p:blipFill>
        <p:spPr>
          <a:xfrm>
            <a:off x="3534297" y="688667"/>
            <a:ext cx="5123405" cy="5480665"/>
          </a:xfrm>
        </p:spPr>
      </p:pic>
    </p:spTree>
    <p:extLst>
      <p:ext uri="{BB962C8B-B14F-4D97-AF65-F5344CB8AC3E}">
        <p14:creationId xmlns:p14="http://schemas.microsoft.com/office/powerpoint/2010/main" val="596063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BD008-5233-A24F-39F6-64FC2BCD8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27808-68FF-8F67-EA4B-D9E384D70A55}"/>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1E8B2CE9-6FD0-92EE-CBC7-985D624A2812}"/>
              </a:ext>
            </a:extLst>
          </p:cNvPr>
          <p:cNvSpPr>
            <a:spLocks noGrp="1"/>
          </p:cNvSpPr>
          <p:nvPr>
            <p:ph idx="1"/>
          </p:nvPr>
        </p:nvSpPr>
        <p:spPr/>
        <p:txBody>
          <a:bodyPr/>
          <a:lstStyle/>
          <a:p>
            <a:r>
              <a:rPr lang="en-US" dirty="0"/>
              <a:t>Skyrocketing expenses</a:t>
            </a:r>
          </a:p>
          <a:p>
            <a:r>
              <a:rPr lang="en-US" dirty="0"/>
              <a:t>Regional disparities</a:t>
            </a:r>
          </a:p>
          <a:p>
            <a:r>
              <a:rPr lang="en-US" dirty="0">
                <a:solidFill>
                  <a:schemeClr val="bg1"/>
                </a:solidFill>
              </a:rPr>
              <a:t>Workforce Impact</a:t>
            </a:r>
          </a:p>
          <a:p>
            <a:r>
              <a:rPr lang="en-US" dirty="0">
                <a:solidFill>
                  <a:schemeClr val="bg1"/>
                </a:solidFill>
              </a:rPr>
              <a:t>Quality trade-offs</a:t>
            </a:r>
          </a:p>
          <a:p>
            <a:r>
              <a:rPr lang="en-US" dirty="0">
                <a:solidFill>
                  <a:schemeClr val="bg1"/>
                </a:solidFill>
              </a:rPr>
              <a:t>Budget squeeze</a:t>
            </a:r>
          </a:p>
          <a:p>
            <a:r>
              <a:rPr lang="en-US" dirty="0">
                <a:solidFill>
                  <a:schemeClr val="bg1"/>
                </a:solidFill>
              </a:rPr>
              <a:t>Economic drag and safety-net reliance</a:t>
            </a:r>
          </a:p>
          <a:p>
            <a:r>
              <a:rPr lang="en-US" dirty="0">
                <a:solidFill>
                  <a:schemeClr val="bg1"/>
                </a:solidFill>
              </a:rPr>
              <a:t>Deepening inequalities</a:t>
            </a:r>
          </a:p>
        </p:txBody>
      </p:sp>
    </p:spTree>
    <p:extLst>
      <p:ext uri="{BB962C8B-B14F-4D97-AF65-F5344CB8AC3E}">
        <p14:creationId xmlns:p14="http://schemas.microsoft.com/office/powerpoint/2010/main" val="3616831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464A9F-90B5-F03B-4141-81ADCC44589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ABBB681-F4D2-40F2-ACC3-DE0B4B488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DA5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388ED0-1FEF-4E11-B488-BD661D1AC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5847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map of the united states&#10;&#10;AI-generated content may be incorrect.">
            <a:extLst>
              <a:ext uri="{FF2B5EF4-FFF2-40B4-BE49-F238E27FC236}">
                <a16:creationId xmlns:a16="http://schemas.microsoft.com/office/drawing/2014/main" id="{E9E30A37-20D2-FAA3-B5A4-1AC045D208C4}"/>
              </a:ext>
            </a:extLst>
          </p:cNvPr>
          <p:cNvPicPr>
            <a:picLocks noGrp="1" noChangeAspect="1"/>
          </p:cNvPicPr>
          <p:nvPr>
            <p:ph idx="1"/>
          </p:nvPr>
        </p:nvPicPr>
        <p:blipFill>
          <a:blip r:embed="rId3"/>
          <a:stretch>
            <a:fillRect/>
          </a:stretch>
        </p:blipFill>
        <p:spPr>
          <a:xfrm>
            <a:off x="1666440" y="571866"/>
            <a:ext cx="8859120" cy="5784484"/>
          </a:xfrm>
        </p:spPr>
      </p:pic>
    </p:spTree>
    <p:extLst>
      <p:ext uri="{BB962C8B-B14F-4D97-AF65-F5344CB8AC3E}">
        <p14:creationId xmlns:p14="http://schemas.microsoft.com/office/powerpoint/2010/main" val="1199577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29CC7-ECC9-88B2-00BB-BDC0F1AAA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1122B-D048-976C-FCF8-2C832EB43536}"/>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114D8843-4C3F-1C7E-659E-840A4E2DF3E6}"/>
              </a:ext>
            </a:extLst>
          </p:cNvPr>
          <p:cNvSpPr>
            <a:spLocks noGrp="1"/>
          </p:cNvSpPr>
          <p:nvPr>
            <p:ph idx="1"/>
          </p:nvPr>
        </p:nvSpPr>
        <p:spPr/>
        <p:txBody>
          <a:bodyPr/>
          <a:lstStyle/>
          <a:p>
            <a:r>
              <a:rPr lang="en-US" dirty="0"/>
              <a:t>Skyrocketing expenses</a:t>
            </a:r>
          </a:p>
          <a:p>
            <a:r>
              <a:rPr lang="en-US" dirty="0"/>
              <a:t>Regional disparities</a:t>
            </a:r>
          </a:p>
          <a:p>
            <a:r>
              <a:rPr lang="en-US" dirty="0"/>
              <a:t>Workforce Impact</a:t>
            </a:r>
          </a:p>
          <a:p>
            <a:r>
              <a:rPr lang="en-US" dirty="0">
                <a:solidFill>
                  <a:schemeClr val="bg1"/>
                </a:solidFill>
              </a:rPr>
              <a:t>Quality trade-offs</a:t>
            </a:r>
          </a:p>
          <a:p>
            <a:r>
              <a:rPr lang="en-US" dirty="0">
                <a:solidFill>
                  <a:schemeClr val="bg1"/>
                </a:solidFill>
              </a:rPr>
              <a:t>Budget squeeze</a:t>
            </a:r>
          </a:p>
          <a:p>
            <a:r>
              <a:rPr lang="en-US" dirty="0">
                <a:solidFill>
                  <a:schemeClr val="bg1"/>
                </a:solidFill>
              </a:rPr>
              <a:t>Economic drag and safety-net reliance</a:t>
            </a:r>
          </a:p>
          <a:p>
            <a:r>
              <a:rPr lang="en-US" dirty="0">
                <a:solidFill>
                  <a:schemeClr val="bg1"/>
                </a:solidFill>
              </a:rPr>
              <a:t>Deepening inequalities</a:t>
            </a:r>
          </a:p>
        </p:txBody>
      </p:sp>
    </p:spTree>
    <p:extLst>
      <p:ext uri="{BB962C8B-B14F-4D97-AF65-F5344CB8AC3E}">
        <p14:creationId xmlns:p14="http://schemas.microsoft.com/office/powerpoint/2010/main" val="3117874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AFC944-A190-E577-1155-B6F98743B47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4E085B2-F754-6597-1526-7C32B2EBD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DA5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E121AAB-62AB-6976-8983-B992AA5269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5847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phone&#10;&#10;AI-generated content may be incorrect.">
            <a:extLst>
              <a:ext uri="{FF2B5EF4-FFF2-40B4-BE49-F238E27FC236}">
                <a16:creationId xmlns:a16="http://schemas.microsoft.com/office/drawing/2014/main" id="{3672C0A3-A732-21D1-59ED-F74448FD5A54}"/>
              </a:ext>
            </a:extLst>
          </p:cNvPr>
          <p:cNvPicPr>
            <a:picLocks noGrp="1" noChangeAspect="1"/>
          </p:cNvPicPr>
          <p:nvPr>
            <p:ph idx="1"/>
          </p:nvPr>
        </p:nvPicPr>
        <p:blipFill>
          <a:blip r:embed="rId3"/>
          <a:stretch>
            <a:fillRect/>
          </a:stretch>
        </p:blipFill>
        <p:spPr>
          <a:xfrm>
            <a:off x="4032250" y="1023322"/>
            <a:ext cx="4127500" cy="5067300"/>
          </a:xfrm>
        </p:spPr>
      </p:pic>
    </p:spTree>
    <p:extLst>
      <p:ext uri="{BB962C8B-B14F-4D97-AF65-F5344CB8AC3E}">
        <p14:creationId xmlns:p14="http://schemas.microsoft.com/office/powerpoint/2010/main" val="2844607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66575-D0A4-5083-3FF6-2612A7EE1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5DB72-4455-5BD6-E38B-53CC0C74B2BD}"/>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05F53C3E-C23E-A2AD-EADE-9C96390EACD0}"/>
              </a:ext>
            </a:extLst>
          </p:cNvPr>
          <p:cNvSpPr>
            <a:spLocks noGrp="1"/>
          </p:cNvSpPr>
          <p:nvPr>
            <p:ph idx="1"/>
          </p:nvPr>
        </p:nvSpPr>
        <p:spPr/>
        <p:txBody>
          <a:bodyPr/>
          <a:lstStyle/>
          <a:p>
            <a:r>
              <a:rPr lang="en-US" dirty="0"/>
              <a:t>Skyrocketing expenses</a:t>
            </a:r>
          </a:p>
          <a:p>
            <a:r>
              <a:rPr lang="en-US" dirty="0"/>
              <a:t>Regional disparities</a:t>
            </a:r>
          </a:p>
          <a:p>
            <a:r>
              <a:rPr lang="en-US" dirty="0"/>
              <a:t>Workforce Impact</a:t>
            </a:r>
          </a:p>
          <a:p>
            <a:r>
              <a:rPr lang="en-US" dirty="0"/>
              <a:t>Quality trade-offs</a:t>
            </a:r>
          </a:p>
          <a:p>
            <a:r>
              <a:rPr lang="en-US" dirty="0">
                <a:solidFill>
                  <a:schemeClr val="bg1"/>
                </a:solidFill>
              </a:rPr>
              <a:t>Budget squeeze</a:t>
            </a:r>
          </a:p>
          <a:p>
            <a:r>
              <a:rPr lang="en-US" dirty="0">
                <a:solidFill>
                  <a:schemeClr val="bg1"/>
                </a:solidFill>
              </a:rPr>
              <a:t>Economic drag and safety-net reliance</a:t>
            </a:r>
          </a:p>
          <a:p>
            <a:r>
              <a:rPr lang="en-US" dirty="0">
                <a:solidFill>
                  <a:schemeClr val="bg1"/>
                </a:solidFill>
              </a:rPr>
              <a:t>Deepening inequalities</a:t>
            </a:r>
          </a:p>
        </p:txBody>
      </p:sp>
    </p:spTree>
    <p:extLst>
      <p:ext uri="{BB962C8B-B14F-4D97-AF65-F5344CB8AC3E}">
        <p14:creationId xmlns:p14="http://schemas.microsoft.com/office/powerpoint/2010/main" val="901440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5A864-833B-69A9-C580-7A2411ACE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06B9D-096F-0E13-ED43-B94D2D5ABAEE}"/>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624AD806-7A10-1D9B-7B8C-8A0F97B7EA93}"/>
              </a:ext>
            </a:extLst>
          </p:cNvPr>
          <p:cNvSpPr>
            <a:spLocks noGrp="1"/>
          </p:cNvSpPr>
          <p:nvPr>
            <p:ph idx="1"/>
          </p:nvPr>
        </p:nvSpPr>
        <p:spPr/>
        <p:txBody>
          <a:bodyPr/>
          <a:lstStyle/>
          <a:p>
            <a:r>
              <a:rPr lang="en-US" dirty="0"/>
              <a:t>Skyrocketing expenses</a:t>
            </a:r>
          </a:p>
          <a:p>
            <a:r>
              <a:rPr lang="en-US" dirty="0"/>
              <a:t>Regional disparities</a:t>
            </a:r>
          </a:p>
          <a:p>
            <a:r>
              <a:rPr lang="en-US" dirty="0"/>
              <a:t>Workforce Impact</a:t>
            </a:r>
          </a:p>
          <a:p>
            <a:r>
              <a:rPr lang="en-US" dirty="0"/>
              <a:t>Quality trade-offs</a:t>
            </a:r>
          </a:p>
          <a:p>
            <a:r>
              <a:rPr lang="en-US" dirty="0"/>
              <a:t>Budget squeeze</a:t>
            </a:r>
          </a:p>
          <a:p>
            <a:r>
              <a:rPr lang="en-US" dirty="0">
                <a:solidFill>
                  <a:schemeClr val="bg1"/>
                </a:solidFill>
              </a:rPr>
              <a:t>Economic drag and safety-net reliance</a:t>
            </a:r>
          </a:p>
          <a:p>
            <a:r>
              <a:rPr lang="en-US" dirty="0">
                <a:solidFill>
                  <a:schemeClr val="bg1"/>
                </a:solidFill>
              </a:rPr>
              <a:t>Deepening inequalities</a:t>
            </a:r>
          </a:p>
        </p:txBody>
      </p:sp>
    </p:spTree>
    <p:extLst>
      <p:ext uri="{BB962C8B-B14F-4D97-AF65-F5344CB8AC3E}">
        <p14:creationId xmlns:p14="http://schemas.microsoft.com/office/powerpoint/2010/main" val="212293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74BF66-15C5-0223-3EDD-B9906AD8E22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ABBB681-F4D2-40F2-ACC3-DE0B4B488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388ED0-1FEF-4E11-B488-BD661D1AC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5847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graph of income and income&#10;&#10;AI-generated content may be incorrect.">
            <a:extLst>
              <a:ext uri="{FF2B5EF4-FFF2-40B4-BE49-F238E27FC236}">
                <a16:creationId xmlns:a16="http://schemas.microsoft.com/office/drawing/2014/main" id="{0208D58F-B09E-7672-3109-4B4379942847}"/>
              </a:ext>
            </a:extLst>
          </p:cNvPr>
          <p:cNvPicPr>
            <a:picLocks noGrp="1" noChangeAspect="1"/>
          </p:cNvPicPr>
          <p:nvPr>
            <p:ph idx="1"/>
          </p:nvPr>
        </p:nvPicPr>
        <p:blipFill>
          <a:blip r:embed="rId3"/>
          <a:stretch>
            <a:fillRect/>
          </a:stretch>
        </p:blipFill>
        <p:spPr>
          <a:xfrm>
            <a:off x="813500" y="577499"/>
            <a:ext cx="10565000" cy="5659821"/>
          </a:xfrm>
        </p:spPr>
      </p:pic>
    </p:spTree>
    <p:extLst>
      <p:ext uri="{BB962C8B-B14F-4D97-AF65-F5344CB8AC3E}">
        <p14:creationId xmlns:p14="http://schemas.microsoft.com/office/powerpoint/2010/main" val="2710710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27816-16F0-9808-E970-677367537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F8060-2D94-9FEE-550F-E3333B077CFD}"/>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A903D1A6-3A96-CAC2-FE54-AF69F29C6C57}"/>
              </a:ext>
            </a:extLst>
          </p:cNvPr>
          <p:cNvSpPr>
            <a:spLocks noGrp="1"/>
          </p:cNvSpPr>
          <p:nvPr>
            <p:ph idx="1"/>
          </p:nvPr>
        </p:nvSpPr>
        <p:spPr/>
        <p:txBody>
          <a:bodyPr/>
          <a:lstStyle/>
          <a:p>
            <a:r>
              <a:rPr lang="en-US" dirty="0"/>
              <a:t>Skyrocketing expenses</a:t>
            </a:r>
          </a:p>
          <a:p>
            <a:r>
              <a:rPr lang="en-US" dirty="0"/>
              <a:t>Regional disparities</a:t>
            </a:r>
          </a:p>
          <a:p>
            <a:r>
              <a:rPr lang="en-US" dirty="0"/>
              <a:t>Workforce Impact</a:t>
            </a:r>
          </a:p>
          <a:p>
            <a:r>
              <a:rPr lang="en-US" dirty="0"/>
              <a:t>Quality trade-offs</a:t>
            </a:r>
          </a:p>
          <a:p>
            <a:r>
              <a:rPr lang="en-US" dirty="0"/>
              <a:t>Budget squeeze</a:t>
            </a:r>
          </a:p>
          <a:p>
            <a:r>
              <a:rPr lang="en-US" dirty="0"/>
              <a:t>Economic drag and safety-net reliance</a:t>
            </a:r>
          </a:p>
          <a:p>
            <a:r>
              <a:rPr lang="en-US" dirty="0">
                <a:solidFill>
                  <a:schemeClr val="bg1"/>
                </a:solidFill>
              </a:rPr>
              <a:t>Deepening inequalities</a:t>
            </a:r>
          </a:p>
        </p:txBody>
      </p:sp>
    </p:spTree>
    <p:extLst>
      <p:ext uri="{BB962C8B-B14F-4D97-AF65-F5344CB8AC3E}">
        <p14:creationId xmlns:p14="http://schemas.microsoft.com/office/powerpoint/2010/main" val="3548361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7EDEA-46E2-998E-456B-172E2575F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01F40-C0BF-2F91-9129-AB201118F4F8}"/>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D8D53F8C-6A50-1052-6F31-F97E5EE49E92}"/>
              </a:ext>
            </a:extLst>
          </p:cNvPr>
          <p:cNvSpPr>
            <a:spLocks noGrp="1"/>
          </p:cNvSpPr>
          <p:nvPr>
            <p:ph idx="1"/>
          </p:nvPr>
        </p:nvSpPr>
        <p:spPr/>
        <p:txBody>
          <a:bodyPr/>
          <a:lstStyle/>
          <a:p>
            <a:r>
              <a:rPr lang="en-US" dirty="0"/>
              <a:t>Skyrocketing expenses</a:t>
            </a:r>
          </a:p>
          <a:p>
            <a:r>
              <a:rPr lang="en-US" dirty="0"/>
              <a:t>Regional disparities</a:t>
            </a:r>
          </a:p>
          <a:p>
            <a:r>
              <a:rPr lang="en-US" dirty="0"/>
              <a:t>Workforce Impact</a:t>
            </a:r>
          </a:p>
          <a:p>
            <a:r>
              <a:rPr lang="en-US" dirty="0"/>
              <a:t>Quality trade-offs</a:t>
            </a:r>
          </a:p>
          <a:p>
            <a:r>
              <a:rPr lang="en-US" dirty="0"/>
              <a:t>Budget squeeze</a:t>
            </a:r>
          </a:p>
          <a:p>
            <a:r>
              <a:rPr lang="en-US" dirty="0"/>
              <a:t>Economic drag and safety-net reliance</a:t>
            </a:r>
          </a:p>
          <a:p>
            <a:r>
              <a:rPr lang="en-US" dirty="0"/>
              <a:t>Deepening inequalities</a:t>
            </a:r>
          </a:p>
        </p:txBody>
      </p:sp>
    </p:spTree>
    <p:extLst>
      <p:ext uri="{BB962C8B-B14F-4D97-AF65-F5344CB8AC3E}">
        <p14:creationId xmlns:p14="http://schemas.microsoft.com/office/powerpoint/2010/main" val="2899509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87EA8-6B50-861E-0586-2A515A2213B5}"/>
              </a:ext>
            </a:extLst>
          </p:cNvPr>
          <p:cNvSpPr>
            <a:spLocks noGrp="1"/>
          </p:cNvSpPr>
          <p:nvPr>
            <p:ph type="title"/>
          </p:nvPr>
        </p:nvSpPr>
        <p:spPr>
          <a:xfrm>
            <a:off x="252919" y="1123837"/>
            <a:ext cx="2947482" cy="4601183"/>
          </a:xfrm>
        </p:spPr>
        <p:txBody>
          <a:bodyPr>
            <a:normAutofit/>
          </a:bodyPr>
          <a:lstStyle/>
          <a:p>
            <a:r>
              <a:rPr lang="en-US" dirty="0"/>
              <a:t>Economic Costs of Inaction</a:t>
            </a:r>
          </a:p>
        </p:txBody>
      </p:sp>
      <p:graphicFrame>
        <p:nvGraphicFramePr>
          <p:cNvPr id="5" name="Content Placeholder 2">
            <a:extLst>
              <a:ext uri="{FF2B5EF4-FFF2-40B4-BE49-F238E27FC236}">
                <a16:creationId xmlns:a16="http://schemas.microsoft.com/office/drawing/2014/main" id="{16A7BFB1-E391-2E33-8D36-46FB89B89995}"/>
              </a:ext>
            </a:extLst>
          </p:cNvPr>
          <p:cNvGraphicFramePr>
            <a:graphicFrameLocks noGrp="1"/>
          </p:cNvGraphicFramePr>
          <p:nvPr>
            <p:ph idx="1"/>
            <p:extLst>
              <p:ext uri="{D42A27DB-BD31-4B8C-83A1-F6EECF244321}">
                <p14:modId xmlns:p14="http://schemas.microsoft.com/office/powerpoint/2010/main" val="3579031437"/>
              </p:ext>
            </p:extLst>
          </p:nvPr>
        </p:nvGraphicFramePr>
        <p:xfrm>
          <a:off x="3759896" y="885459"/>
          <a:ext cx="7728267" cy="508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32335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A5D151-F6CF-B2EA-A629-B0CEC46DF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7953E9-ED96-8206-964A-5399E69F7546}"/>
              </a:ext>
            </a:extLst>
          </p:cNvPr>
          <p:cNvSpPr>
            <a:spLocks noGrp="1"/>
          </p:cNvSpPr>
          <p:nvPr>
            <p:ph type="title"/>
          </p:nvPr>
        </p:nvSpPr>
        <p:spPr>
          <a:xfrm>
            <a:off x="252919" y="1123837"/>
            <a:ext cx="2947482" cy="4601183"/>
          </a:xfrm>
        </p:spPr>
        <p:txBody>
          <a:bodyPr>
            <a:normAutofit/>
          </a:bodyPr>
          <a:lstStyle/>
          <a:p>
            <a:r>
              <a:rPr lang="en-US" dirty="0"/>
              <a:t>Social and Long-Term Impacts</a:t>
            </a:r>
          </a:p>
        </p:txBody>
      </p:sp>
      <p:graphicFrame>
        <p:nvGraphicFramePr>
          <p:cNvPr id="5" name="Content Placeholder 2">
            <a:extLst>
              <a:ext uri="{FF2B5EF4-FFF2-40B4-BE49-F238E27FC236}">
                <a16:creationId xmlns:a16="http://schemas.microsoft.com/office/drawing/2014/main" id="{D4F27A61-8659-6F0A-6C70-4F25CC55CE54}"/>
              </a:ext>
            </a:extLst>
          </p:cNvPr>
          <p:cNvGraphicFramePr>
            <a:graphicFrameLocks noGrp="1"/>
          </p:cNvGraphicFramePr>
          <p:nvPr>
            <p:ph idx="1"/>
            <p:extLst>
              <p:ext uri="{D42A27DB-BD31-4B8C-83A1-F6EECF244321}">
                <p14:modId xmlns:p14="http://schemas.microsoft.com/office/powerpoint/2010/main" val="1269513130"/>
              </p:ext>
            </p:extLst>
          </p:nvPr>
        </p:nvGraphicFramePr>
        <p:xfrm>
          <a:off x="3759896" y="885459"/>
          <a:ext cx="7728267" cy="508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0974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Hologram from iPad">
            <a:extLst>
              <a:ext uri="{FF2B5EF4-FFF2-40B4-BE49-F238E27FC236}">
                <a16:creationId xmlns:a16="http://schemas.microsoft.com/office/drawing/2014/main" id="{878E1197-A4B5-5D00-6B0E-47C91723E9C8}"/>
              </a:ext>
            </a:extLst>
          </p:cNvPr>
          <p:cNvPicPr>
            <a:picLocks noChangeAspect="1"/>
          </p:cNvPicPr>
          <p:nvPr/>
        </p:nvPicPr>
        <p:blipFill>
          <a:blip r:embed="rId3">
            <a:duotone>
              <a:schemeClr val="bg2">
                <a:shade val="45000"/>
                <a:satMod val="135000"/>
              </a:schemeClr>
              <a:prstClr val="white"/>
            </a:duotone>
            <a:alphaModFix amt="25000"/>
          </a:blip>
          <a:srcRect t="7671" r="-1" b="8038"/>
          <a:stretch/>
        </p:blipFill>
        <p:spPr>
          <a:xfrm>
            <a:off x="20" y="1"/>
            <a:ext cx="12188932" cy="6858000"/>
          </a:xfrm>
          <a:prstGeom prst="rect">
            <a:avLst/>
          </a:prstGeom>
        </p:spPr>
      </p:pic>
      <p:sp>
        <p:nvSpPr>
          <p:cNvPr id="11" name="Rectangle 10">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5BCA48C-409B-5A5C-0200-A862F6D01A01}"/>
              </a:ext>
            </a:extLst>
          </p:cNvPr>
          <p:cNvSpPr>
            <a:spLocks noGrp="1"/>
          </p:cNvSpPr>
          <p:nvPr>
            <p:ph type="title"/>
          </p:nvPr>
        </p:nvSpPr>
        <p:spPr>
          <a:xfrm>
            <a:off x="252919" y="1123837"/>
            <a:ext cx="2947482" cy="4601183"/>
          </a:xfrm>
        </p:spPr>
        <p:txBody>
          <a:bodyPr>
            <a:normAutofit/>
          </a:bodyPr>
          <a:lstStyle/>
          <a:p>
            <a:r>
              <a:rPr lang="en-US" dirty="0"/>
              <a:t>The Proposed Expansion</a:t>
            </a:r>
          </a:p>
        </p:txBody>
      </p:sp>
      <p:sp>
        <p:nvSpPr>
          <p:cNvPr id="3" name="Content Placeholder 2">
            <a:extLst>
              <a:ext uri="{FF2B5EF4-FFF2-40B4-BE49-F238E27FC236}">
                <a16:creationId xmlns:a16="http://schemas.microsoft.com/office/drawing/2014/main" id="{541F1CDF-D3CC-C7E6-BFC7-9627D683A5A5}"/>
              </a:ext>
            </a:extLst>
          </p:cNvPr>
          <p:cNvSpPr>
            <a:spLocks noGrp="1"/>
          </p:cNvSpPr>
          <p:nvPr>
            <p:ph idx="1"/>
          </p:nvPr>
        </p:nvSpPr>
        <p:spPr>
          <a:xfrm>
            <a:off x="3869268" y="864108"/>
            <a:ext cx="7315200" cy="5120640"/>
          </a:xfrm>
        </p:spPr>
        <p:txBody>
          <a:bodyPr>
            <a:normAutofit/>
          </a:bodyPr>
          <a:lstStyle/>
          <a:p>
            <a:r>
              <a:rPr lang="en-US" dirty="0"/>
              <a:t>Increase eligible expenses and credit rates</a:t>
            </a:r>
          </a:p>
          <a:p>
            <a:r>
              <a:rPr lang="en-US" dirty="0"/>
              <a:t>Broden eligibility</a:t>
            </a:r>
          </a:p>
          <a:p>
            <a:r>
              <a:rPr lang="en-US" dirty="0"/>
              <a:t>Simplify access</a:t>
            </a:r>
          </a:p>
          <a:p>
            <a:r>
              <a:rPr lang="en-US" dirty="0"/>
              <a:t>Index and stabilize for the future</a:t>
            </a:r>
          </a:p>
        </p:txBody>
      </p:sp>
      <p:sp>
        <p:nvSpPr>
          <p:cNvPr id="13" name="Rectangle 12">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2833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19311-1470-0CD8-8FDF-E9101AFCE73D}"/>
              </a:ext>
            </a:extLst>
          </p:cNvPr>
          <p:cNvSpPr>
            <a:spLocks noGrp="1"/>
          </p:cNvSpPr>
          <p:nvPr>
            <p:ph type="title"/>
          </p:nvPr>
        </p:nvSpPr>
        <p:spPr/>
        <p:txBody>
          <a:bodyPr/>
          <a:lstStyle/>
          <a:p>
            <a:r>
              <a:rPr lang="en-US"/>
              <a:t>Economic Benefits</a:t>
            </a:r>
            <a:endParaRPr lang="en-US" dirty="0"/>
          </a:p>
        </p:txBody>
      </p:sp>
      <p:graphicFrame>
        <p:nvGraphicFramePr>
          <p:cNvPr id="11" name="Content Placeholder 2">
            <a:extLst>
              <a:ext uri="{FF2B5EF4-FFF2-40B4-BE49-F238E27FC236}">
                <a16:creationId xmlns:a16="http://schemas.microsoft.com/office/drawing/2014/main" id="{A1B231F9-E5DB-93D1-D474-B940E42D8724}"/>
              </a:ext>
            </a:extLst>
          </p:cNvPr>
          <p:cNvGraphicFramePr>
            <a:graphicFrameLocks noGrp="1"/>
          </p:cNvGraphicFramePr>
          <p:nvPr>
            <p:ph idx="1"/>
          </p:nvPr>
        </p:nvGraphicFramePr>
        <p:xfrm>
          <a:off x="3869268" y="864108"/>
          <a:ext cx="7315200" cy="512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1286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FE9B4-6410-D85B-5FB5-D45207456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096E6-EEB3-B4C3-10A6-3490F7170B02}"/>
              </a:ext>
            </a:extLst>
          </p:cNvPr>
          <p:cNvSpPr>
            <a:spLocks noGrp="1"/>
          </p:cNvSpPr>
          <p:nvPr>
            <p:ph type="title"/>
          </p:nvPr>
        </p:nvSpPr>
        <p:spPr/>
        <p:txBody>
          <a:bodyPr/>
          <a:lstStyle/>
          <a:p>
            <a:r>
              <a:rPr lang="en-US" dirty="0"/>
              <a:t>Social Benefits</a:t>
            </a:r>
          </a:p>
        </p:txBody>
      </p:sp>
      <p:sp>
        <p:nvSpPr>
          <p:cNvPr id="3" name="Content Placeholder 2">
            <a:extLst>
              <a:ext uri="{FF2B5EF4-FFF2-40B4-BE49-F238E27FC236}">
                <a16:creationId xmlns:a16="http://schemas.microsoft.com/office/drawing/2014/main" id="{8BF8B63E-D7D1-DADD-0FDF-732223BA2106}"/>
              </a:ext>
            </a:extLst>
          </p:cNvPr>
          <p:cNvSpPr>
            <a:spLocks noGrp="1"/>
          </p:cNvSpPr>
          <p:nvPr>
            <p:ph idx="1"/>
          </p:nvPr>
        </p:nvSpPr>
        <p:spPr/>
        <p:txBody>
          <a:bodyPr/>
          <a:lstStyle/>
          <a:p>
            <a:r>
              <a:rPr lang="en-US" dirty="0"/>
              <a:t>Better child development</a:t>
            </a:r>
          </a:p>
          <a:p>
            <a:r>
              <a:rPr lang="en-US" dirty="0"/>
              <a:t>Gender equity</a:t>
            </a:r>
          </a:p>
          <a:p>
            <a:r>
              <a:rPr lang="en-US" dirty="0"/>
              <a:t>Improved caregiver well-being</a:t>
            </a:r>
          </a:p>
          <a:p>
            <a:r>
              <a:rPr lang="en-US" dirty="0"/>
              <a:t>Expanded support networks</a:t>
            </a:r>
          </a:p>
          <a:p>
            <a:r>
              <a:rPr lang="en-US" dirty="0"/>
              <a:t>Stronger communities</a:t>
            </a:r>
          </a:p>
          <a:p>
            <a:endParaRPr lang="en-US" dirty="0"/>
          </a:p>
        </p:txBody>
      </p:sp>
    </p:spTree>
    <p:extLst>
      <p:ext uri="{BB962C8B-B14F-4D97-AF65-F5344CB8AC3E}">
        <p14:creationId xmlns:p14="http://schemas.microsoft.com/office/powerpoint/2010/main" val="2551207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DC4F84-175A-4AB1-916C-1E5796E1E0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lluminated San Francisco City Hall">
            <a:extLst>
              <a:ext uri="{FF2B5EF4-FFF2-40B4-BE49-F238E27FC236}">
                <a16:creationId xmlns:a16="http://schemas.microsoft.com/office/drawing/2014/main" id="{784649C9-CA77-A4E0-D6F7-F7835C9F2F31}"/>
              </a:ext>
            </a:extLst>
          </p:cNvPr>
          <p:cNvPicPr>
            <a:picLocks noChangeAspect="1"/>
          </p:cNvPicPr>
          <p:nvPr/>
        </p:nvPicPr>
        <p:blipFill>
          <a:blip r:embed="rId3">
            <a:alphaModFix amt="25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1222A44E-B136-97C3-310C-3E416FA844AE}"/>
              </a:ext>
            </a:extLst>
          </p:cNvPr>
          <p:cNvSpPr>
            <a:spLocks noGrp="1"/>
          </p:cNvSpPr>
          <p:nvPr>
            <p:ph type="title"/>
          </p:nvPr>
        </p:nvSpPr>
        <p:spPr>
          <a:xfrm>
            <a:off x="252918" y="1123837"/>
            <a:ext cx="3051113" cy="4601183"/>
          </a:xfrm>
        </p:spPr>
        <p:txBody>
          <a:bodyPr>
            <a:normAutofit/>
          </a:bodyPr>
          <a:lstStyle/>
          <a:p>
            <a:r>
              <a:rPr lang="en-US" dirty="0">
                <a:solidFill>
                  <a:schemeClr val="tx1"/>
                </a:solidFill>
              </a:rPr>
              <a:t>Act Today</a:t>
            </a:r>
          </a:p>
        </p:txBody>
      </p:sp>
      <p:sp>
        <p:nvSpPr>
          <p:cNvPr id="3" name="Content Placeholder 2">
            <a:extLst>
              <a:ext uri="{FF2B5EF4-FFF2-40B4-BE49-F238E27FC236}">
                <a16:creationId xmlns:a16="http://schemas.microsoft.com/office/drawing/2014/main" id="{C78755A2-C0D2-E0D9-1CE1-5ACF147F71EF}"/>
              </a:ext>
            </a:extLst>
          </p:cNvPr>
          <p:cNvSpPr>
            <a:spLocks noGrp="1"/>
          </p:cNvSpPr>
          <p:nvPr>
            <p:ph idx="1"/>
          </p:nvPr>
        </p:nvSpPr>
        <p:spPr>
          <a:xfrm>
            <a:off x="3869268" y="864108"/>
            <a:ext cx="7315200" cy="5120640"/>
          </a:xfrm>
        </p:spPr>
        <p:txBody>
          <a:bodyPr>
            <a:normAutofit/>
          </a:bodyPr>
          <a:lstStyle/>
          <a:p>
            <a:r>
              <a:rPr lang="en-US">
                <a:solidFill>
                  <a:schemeClr val="tx1"/>
                </a:solidFill>
              </a:rPr>
              <a:t>Contact your members of Congress </a:t>
            </a:r>
          </a:p>
          <a:p>
            <a:r>
              <a:rPr lang="en-US">
                <a:solidFill>
                  <a:schemeClr val="tx1"/>
                </a:solidFill>
              </a:rPr>
              <a:t>202-225-3121, House of Representatives</a:t>
            </a:r>
          </a:p>
          <a:p>
            <a:r>
              <a:rPr lang="en-US">
                <a:solidFill>
                  <a:schemeClr val="tx1"/>
                </a:solidFill>
              </a:rPr>
              <a:t>202-224-3121, Senate</a:t>
            </a:r>
          </a:p>
        </p:txBody>
      </p:sp>
    </p:spTree>
    <p:extLst>
      <p:ext uri="{BB962C8B-B14F-4D97-AF65-F5344CB8AC3E}">
        <p14:creationId xmlns:p14="http://schemas.microsoft.com/office/powerpoint/2010/main" val="143856831"/>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Frame</Template>
  <TotalTime>300</TotalTime>
  <Words>2176</Words>
  <Application>Microsoft Macintosh PowerPoint</Application>
  <PresentationFormat>Widescreen</PresentationFormat>
  <Paragraphs>166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-webkit-standard</vt:lpstr>
      <vt:lpstr>Aptos</vt:lpstr>
      <vt:lpstr>Arial</vt:lpstr>
      <vt:lpstr>Corbel</vt:lpstr>
      <vt:lpstr>Wingdings 2</vt:lpstr>
      <vt:lpstr>Frame</vt:lpstr>
      <vt:lpstr>Expanding the Child and Dependent Care Credit (CDCC)</vt:lpstr>
      <vt:lpstr>Childcare Demand</vt:lpstr>
      <vt:lpstr>The Problem</vt:lpstr>
      <vt:lpstr>PowerPoint Presentation</vt:lpstr>
      <vt:lpstr>The Problem</vt:lpstr>
      <vt:lpstr>PowerPoint Presentation</vt:lpstr>
      <vt:lpstr>The Problem</vt:lpstr>
      <vt:lpstr>PowerPoint Presentation</vt:lpstr>
      <vt:lpstr>The Problem</vt:lpstr>
      <vt:lpstr>The Problem</vt:lpstr>
      <vt:lpstr>PowerPoint Presentation</vt:lpstr>
      <vt:lpstr>The Problem</vt:lpstr>
      <vt:lpstr>The Problem</vt:lpstr>
      <vt:lpstr>Economic Costs of Inaction</vt:lpstr>
      <vt:lpstr>Social and Long-Term Impacts</vt:lpstr>
      <vt:lpstr>The Proposed Expansion</vt:lpstr>
      <vt:lpstr>Economic Benefits</vt:lpstr>
      <vt:lpstr>Social Benefits</vt:lpstr>
      <vt:lpstr>Act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Picinich</dc:creator>
  <cp:lastModifiedBy>Emily Picinich</cp:lastModifiedBy>
  <cp:revision>3</cp:revision>
  <dcterms:created xsi:type="dcterms:W3CDTF">2025-04-21T19:29:59Z</dcterms:created>
  <dcterms:modified xsi:type="dcterms:W3CDTF">2025-04-22T00:30:04Z</dcterms:modified>
</cp:coreProperties>
</file>